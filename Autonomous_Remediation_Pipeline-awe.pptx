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16"/>
  </p:notesMasterIdLst>
  <p:handoutMasterIdLst>
    <p:handoutMasterId r:id="rId17"/>
  </p:handoutMasterIdLst>
  <p:sldIdLst>
    <p:sldId id="2561" r:id="rId5"/>
    <p:sldId id="2562" r:id="rId6"/>
    <p:sldId id="2570" r:id="rId7"/>
    <p:sldId id="2571" r:id="rId8"/>
    <p:sldId id="2573" r:id="rId9"/>
    <p:sldId id="2564" r:id="rId10"/>
    <p:sldId id="2565" r:id="rId11"/>
    <p:sldId id="2566" r:id="rId12"/>
    <p:sldId id="2567" r:id="rId13"/>
    <p:sldId id="2568" r:id="rId14"/>
    <p:sldId id="25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nomous Remediation Pipeline" id="{B27F39B0-FB25-41B1-9815-D764234A973A}">
          <p14:sldIdLst>
            <p14:sldId id="2561"/>
          </p14:sldIdLst>
        </p14:section>
        <p14:section name="Autonomous Remediation Pipeline" id="{D917B6BA-DE4E-418A-A733-EDE3B1B31B5F}">
          <p14:sldIdLst>
            <p14:sldId id="2562"/>
            <p14:sldId id="2570"/>
            <p14:sldId id="2571"/>
            <p14:sldId id="2573"/>
            <p14:sldId id="2564"/>
            <p14:sldId id="2565"/>
            <p14:sldId id="2566"/>
            <p14:sldId id="2567"/>
            <p14:sldId id="2568"/>
            <p14:sldId id="25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FCF30C-BA14-4A7A-A4AA-27796B1045F9}" v="2" dt="2026-03-24T14:57:40.330"/>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6" autoAdjust="0"/>
    <p:restoredTop sz="87352" autoAdjust="0"/>
  </p:normalViewPr>
  <p:slideViewPr>
    <p:cSldViewPr snapToGrid="0">
      <p:cViewPr varScale="1">
        <p:scale>
          <a:sx n="139" d="100"/>
          <a:sy n="139" d="100"/>
        </p:scale>
        <p:origin x="3810" y="114"/>
      </p:cViewPr>
      <p:guideLst/>
    </p:cSldViewPr>
  </p:slideViewPr>
  <p:outlineViewPr>
    <p:cViewPr>
      <p:scale>
        <a:sx n="33" d="100"/>
        <a:sy n="33" d="100"/>
      </p:scale>
      <p:origin x="0" y="-3264"/>
    </p:cViewPr>
  </p:outlin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dt, Andres Martin" userId="c92f2de0-217c-4435-bea1-006aa1089e7d" providerId="ADAL" clId="{45392A46-7757-43CD-A2E8-A6E5C716304C}"/>
    <pc:docChg chg="modSld">
      <pc:chgData name="Wendt, Andres Martin" userId="c92f2de0-217c-4435-bea1-006aa1089e7d" providerId="ADAL" clId="{45392A46-7757-43CD-A2E8-A6E5C716304C}" dt="2026-03-24T14:57:40.330" v="1" actId="113"/>
      <pc:docMkLst>
        <pc:docMk/>
      </pc:docMkLst>
      <pc:sldChg chg="modSp">
        <pc:chgData name="Wendt, Andres Martin" userId="c92f2de0-217c-4435-bea1-006aa1089e7d" providerId="ADAL" clId="{45392A46-7757-43CD-A2E8-A6E5C716304C}" dt="2026-03-24T14:57:40.330" v="1" actId="113"/>
        <pc:sldMkLst>
          <pc:docMk/>
          <pc:sldMk cId="3416464060" sldId="2573"/>
        </pc:sldMkLst>
        <pc:spChg chg="mod">
          <ac:chgData name="Wendt, Andres Martin" userId="c92f2de0-217c-4435-bea1-006aa1089e7d" providerId="ADAL" clId="{45392A46-7757-43CD-A2E8-A6E5C716304C}" dt="2026-03-24T14:57:40.330" v="1" actId="113"/>
          <ac:spMkLst>
            <pc:docMk/>
            <pc:sldMk cId="3416464060" sldId="2573"/>
            <ac:spMk id="5" creationId="{02884400-1A5D-3DBF-1354-E9171868A6E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2E01B8-F4B3-4B41-AF46-8179C1FD2A34}"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CE31A46E-3E16-4A56-BE1B-6232FC1A5745}">
      <dgm:prSet/>
      <dgm:spPr/>
      <dgm:t>
        <a:bodyPr/>
        <a:lstStyle/>
        <a:p>
          <a:pPr>
            <a:lnSpc>
              <a:spcPct val="100000"/>
            </a:lnSpc>
            <a:defRPr b="1"/>
          </a:pPr>
          <a:r>
            <a:rPr lang="en-US"/>
            <a:t>Continuous Metrics Evaluation</a:t>
          </a:r>
        </a:p>
      </dgm:t>
    </dgm:pt>
    <dgm:pt modelId="{E5E5D963-EBAF-4FA0-A924-3A5655F9106F}" type="parTrans" cxnId="{A1F1C286-9390-4A5E-862A-E5DE863517A5}">
      <dgm:prSet/>
      <dgm:spPr/>
      <dgm:t>
        <a:bodyPr/>
        <a:lstStyle/>
        <a:p>
          <a:endParaRPr lang="en-US"/>
        </a:p>
      </dgm:t>
    </dgm:pt>
    <dgm:pt modelId="{C245B649-A523-4D9E-9DD0-9BC9D915B733}" type="sibTrans" cxnId="{A1F1C286-9390-4A5E-862A-E5DE863517A5}">
      <dgm:prSet/>
      <dgm:spPr/>
      <dgm:t>
        <a:bodyPr/>
        <a:lstStyle/>
        <a:p>
          <a:pPr>
            <a:lnSpc>
              <a:spcPct val="100000"/>
            </a:lnSpc>
            <a:defRPr b="1"/>
          </a:pPr>
          <a:endParaRPr lang="en-US"/>
        </a:p>
      </dgm:t>
    </dgm:pt>
    <dgm:pt modelId="{03B535D2-1BF4-450E-8E14-F7472BDA35CA}">
      <dgm:prSet/>
      <dgm:spPr/>
      <dgm:t>
        <a:bodyPr/>
        <a:lstStyle/>
        <a:p>
          <a:pPr>
            <a:lnSpc>
              <a:spcPct val="100000"/>
            </a:lnSpc>
          </a:pPr>
          <a:r>
            <a:rPr lang="en-US"/>
            <a:t>Prometheus continuously monitors application and infrastructure metrics using custom alerting rules.</a:t>
          </a:r>
        </a:p>
      </dgm:t>
    </dgm:pt>
    <dgm:pt modelId="{9A6A39E1-4C3B-445B-B09F-559895CADC23}" type="parTrans" cxnId="{F2D1ED65-BA41-49B0-B517-7D03FBF25A57}">
      <dgm:prSet/>
      <dgm:spPr/>
      <dgm:t>
        <a:bodyPr/>
        <a:lstStyle/>
        <a:p>
          <a:endParaRPr lang="en-US"/>
        </a:p>
      </dgm:t>
    </dgm:pt>
    <dgm:pt modelId="{4AD17DCE-5070-4403-AE49-E53B4C7A05A2}" type="sibTrans" cxnId="{F2D1ED65-BA41-49B0-B517-7D03FBF25A57}">
      <dgm:prSet/>
      <dgm:spPr/>
      <dgm:t>
        <a:bodyPr/>
        <a:lstStyle/>
        <a:p>
          <a:endParaRPr lang="en-US"/>
        </a:p>
      </dgm:t>
    </dgm:pt>
    <dgm:pt modelId="{3102230A-A989-4D91-BB3E-D50CC6AD5CCE}">
      <dgm:prSet/>
      <dgm:spPr/>
      <dgm:t>
        <a:bodyPr/>
        <a:lstStyle/>
        <a:p>
          <a:pPr>
            <a:lnSpc>
              <a:spcPct val="100000"/>
            </a:lnSpc>
            <a:defRPr b="1"/>
          </a:pPr>
          <a:r>
            <a:rPr lang="en-US"/>
            <a:t>Threshold-Based Alerting</a:t>
          </a:r>
        </a:p>
      </dgm:t>
    </dgm:pt>
    <dgm:pt modelId="{C39F4208-B5A7-47B2-995F-DC2EE11C5311}" type="parTrans" cxnId="{CAF1A22B-92A5-485C-8273-57F5959A94F5}">
      <dgm:prSet/>
      <dgm:spPr/>
      <dgm:t>
        <a:bodyPr/>
        <a:lstStyle/>
        <a:p>
          <a:endParaRPr lang="en-US"/>
        </a:p>
      </dgm:t>
    </dgm:pt>
    <dgm:pt modelId="{6EE0F2AC-9EDB-4767-8CB8-9E05B005C959}" type="sibTrans" cxnId="{CAF1A22B-92A5-485C-8273-57F5959A94F5}">
      <dgm:prSet/>
      <dgm:spPr/>
      <dgm:t>
        <a:bodyPr/>
        <a:lstStyle/>
        <a:p>
          <a:pPr>
            <a:lnSpc>
              <a:spcPct val="100000"/>
            </a:lnSpc>
            <a:defRPr b="1"/>
          </a:pPr>
          <a:endParaRPr lang="en-US"/>
        </a:p>
      </dgm:t>
    </dgm:pt>
    <dgm:pt modelId="{F70F3857-18BE-4C91-A60B-B893C2D648F7}">
      <dgm:prSet/>
      <dgm:spPr/>
      <dgm:t>
        <a:bodyPr/>
        <a:lstStyle/>
        <a:p>
          <a:pPr>
            <a:lnSpc>
              <a:spcPct val="100000"/>
            </a:lnSpc>
          </a:pPr>
          <a:r>
            <a:rPr lang="en-US"/>
            <a:t>Alerts are triggered when metrics exceed defined thresholds, ensuring timely anomaly detection.</a:t>
          </a:r>
        </a:p>
      </dgm:t>
    </dgm:pt>
    <dgm:pt modelId="{24F1E589-580C-44A5-AC2F-F5BE6E8AA6F7}" type="parTrans" cxnId="{A1E572A3-5878-4130-BDAB-F16F8684A22E}">
      <dgm:prSet/>
      <dgm:spPr/>
      <dgm:t>
        <a:bodyPr/>
        <a:lstStyle/>
        <a:p>
          <a:endParaRPr lang="en-US"/>
        </a:p>
      </dgm:t>
    </dgm:pt>
    <dgm:pt modelId="{65FD9189-48BA-4018-99E4-A1C5FC7406CD}" type="sibTrans" cxnId="{A1E572A3-5878-4130-BDAB-F16F8684A22E}">
      <dgm:prSet/>
      <dgm:spPr/>
      <dgm:t>
        <a:bodyPr/>
        <a:lstStyle/>
        <a:p>
          <a:endParaRPr lang="en-US"/>
        </a:p>
      </dgm:t>
    </dgm:pt>
    <dgm:pt modelId="{2F5B8DF5-0E2B-4CFB-84D8-B0FED867192F}">
      <dgm:prSet/>
      <dgm:spPr/>
      <dgm:t>
        <a:bodyPr/>
        <a:lstStyle/>
        <a:p>
          <a:pPr>
            <a:lnSpc>
              <a:spcPct val="100000"/>
            </a:lnSpc>
            <a:defRPr b="1"/>
          </a:pPr>
          <a:r>
            <a:rPr lang="en-US"/>
            <a:t>Contextual Alert Forwarding</a:t>
          </a:r>
        </a:p>
      </dgm:t>
    </dgm:pt>
    <dgm:pt modelId="{4167B798-D9FE-4C64-9F68-D8E00E576FF9}" type="parTrans" cxnId="{75D63803-B891-42C5-A25F-C1CF4C1A0670}">
      <dgm:prSet/>
      <dgm:spPr/>
      <dgm:t>
        <a:bodyPr/>
        <a:lstStyle/>
        <a:p>
          <a:endParaRPr lang="en-US"/>
        </a:p>
      </dgm:t>
    </dgm:pt>
    <dgm:pt modelId="{D1FA3D38-BBBD-4927-B19C-EC973E99A576}" type="sibTrans" cxnId="{75D63803-B891-42C5-A25F-C1CF4C1A0670}">
      <dgm:prSet/>
      <dgm:spPr/>
      <dgm:t>
        <a:bodyPr/>
        <a:lstStyle/>
        <a:p>
          <a:endParaRPr lang="en-US"/>
        </a:p>
      </dgm:t>
    </dgm:pt>
    <dgm:pt modelId="{8E0616C9-1790-4B1C-A03A-637D0F3B38C1}">
      <dgm:prSet/>
      <dgm:spPr/>
      <dgm:t>
        <a:bodyPr/>
        <a:lstStyle/>
        <a:p>
          <a:pPr>
            <a:lnSpc>
              <a:spcPct val="100000"/>
            </a:lnSpc>
          </a:pPr>
          <a:r>
            <a:rPr lang="en-US"/>
            <a:t>Alerts include detailed labels and annotations to aid automated downstream processing and remediation.</a:t>
          </a:r>
        </a:p>
      </dgm:t>
    </dgm:pt>
    <dgm:pt modelId="{CBE66BA7-A861-4DCC-85C9-692518111F14}" type="parTrans" cxnId="{A7A130CC-B96B-425D-BAD9-5D63CF00DFE8}">
      <dgm:prSet/>
      <dgm:spPr/>
      <dgm:t>
        <a:bodyPr/>
        <a:lstStyle/>
        <a:p>
          <a:endParaRPr lang="en-US"/>
        </a:p>
      </dgm:t>
    </dgm:pt>
    <dgm:pt modelId="{BD35584A-B4A2-4F9D-95C3-B5A34F2C657E}" type="sibTrans" cxnId="{A7A130CC-B96B-425D-BAD9-5D63CF00DFE8}">
      <dgm:prSet/>
      <dgm:spPr/>
      <dgm:t>
        <a:bodyPr/>
        <a:lstStyle/>
        <a:p>
          <a:endParaRPr lang="en-US"/>
        </a:p>
      </dgm:t>
    </dgm:pt>
    <dgm:pt modelId="{0A255CB2-2A84-4003-BEDE-2651B684155A}" type="pres">
      <dgm:prSet presAssocID="{3B2E01B8-F4B3-4B41-AF46-8179C1FD2A34}" presName="Root" presStyleCnt="0">
        <dgm:presLayoutVars>
          <dgm:dir/>
          <dgm:resizeHandles val="exact"/>
        </dgm:presLayoutVars>
      </dgm:prSet>
      <dgm:spPr/>
    </dgm:pt>
    <dgm:pt modelId="{30EC635E-B4DC-4D00-B59B-8B71C24E3CFB}" type="pres">
      <dgm:prSet presAssocID="{CE31A46E-3E16-4A56-BE1B-6232FC1A5745}" presName="Composite" presStyleCnt="0"/>
      <dgm:spPr/>
    </dgm:pt>
    <dgm:pt modelId="{4D3150ED-CA84-4693-89D5-8F9111E9DE7A}" type="pres">
      <dgm:prSet presAssocID="{CE31A46E-3E16-4A56-BE1B-6232FC1A574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 r="-7" b="-6"/>
          <a:stretch/>
        </a:blipFill>
      </dgm:spPr>
      <dgm:extLst>
        <a:ext uri="{E40237B7-FDA0-4F09-8148-C483321AD2D9}">
          <dgm14:cNvPr xmlns:dgm14="http://schemas.microsoft.com/office/drawing/2010/diagram" id="0" name="" descr="http://teekid.com/istockphoto/banner/banner3.jpg"/>
        </a:ext>
      </dgm:extLst>
    </dgm:pt>
    <dgm:pt modelId="{150C0FD7-6AB5-4276-8901-F49C1D3C8379}" type="pres">
      <dgm:prSet presAssocID="{CE31A46E-3E16-4A56-BE1B-6232FC1A5745}" presName="Subtitle" presStyleLbl="revTx" presStyleIdx="0" presStyleCnt="6">
        <dgm:presLayoutVars>
          <dgm:chMax val="0"/>
          <dgm:bulletEnabled/>
        </dgm:presLayoutVars>
      </dgm:prSet>
      <dgm:spPr/>
    </dgm:pt>
    <dgm:pt modelId="{14861C5D-5C64-4FD5-B441-64B0281392DE}" type="pres">
      <dgm:prSet presAssocID="{CE31A46E-3E16-4A56-BE1B-6232FC1A5745}" presName="Description" presStyleLbl="revTx" presStyleIdx="1" presStyleCnt="6">
        <dgm:presLayoutVars>
          <dgm:bulletEnabled/>
        </dgm:presLayoutVars>
      </dgm:prSet>
      <dgm:spPr/>
    </dgm:pt>
    <dgm:pt modelId="{5EC5F892-E980-4026-AC0D-BA9252DCD180}" type="pres">
      <dgm:prSet presAssocID="{C245B649-A523-4D9E-9DD0-9BC9D915B733}" presName="sibTrans" presStyleLbl="sibTrans2D1" presStyleIdx="0" presStyleCnt="0"/>
      <dgm:spPr/>
    </dgm:pt>
    <dgm:pt modelId="{2098B725-998E-4293-8AE7-9A97616EDC90}" type="pres">
      <dgm:prSet presAssocID="{3102230A-A989-4D91-BB3E-D50CC6AD5CCE}" presName="Composite" presStyleCnt="0"/>
      <dgm:spPr/>
    </dgm:pt>
    <dgm:pt modelId="{C195FCF5-DF7D-47B4-8C5F-510EA8363776}" type="pres">
      <dgm:prSet presAssocID="{3102230A-A989-4D91-BB3E-D50CC6AD5CCE}"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4107" r="10894" b="1"/>
          <a:stretch/>
        </a:blipFill>
      </dgm:spPr>
      <dgm:extLst>
        <a:ext uri="{E40237B7-FDA0-4F09-8148-C483321AD2D9}">
          <dgm14:cNvPr xmlns:dgm14="http://schemas.microsoft.com/office/drawing/2010/diagram" id="0" name="" descr="Bell"/>
        </a:ext>
      </dgm:extLst>
    </dgm:pt>
    <dgm:pt modelId="{CBD8E964-6628-404E-90ED-90ADD2305DED}" type="pres">
      <dgm:prSet presAssocID="{3102230A-A989-4D91-BB3E-D50CC6AD5CCE}" presName="Subtitle" presStyleLbl="revTx" presStyleIdx="2" presStyleCnt="6">
        <dgm:presLayoutVars>
          <dgm:chMax val="0"/>
          <dgm:bulletEnabled/>
        </dgm:presLayoutVars>
      </dgm:prSet>
      <dgm:spPr/>
    </dgm:pt>
    <dgm:pt modelId="{94128CA2-EE42-46B9-BDD3-66A014038D0C}" type="pres">
      <dgm:prSet presAssocID="{3102230A-A989-4D91-BB3E-D50CC6AD5CCE}" presName="Description" presStyleLbl="revTx" presStyleIdx="3" presStyleCnt="6">
        <dgm:presLayoutVars>
          <dgm:bulletEnabled/>
        </dgm:presLayoutVars>
      </dgm:prSet>
      <dgm:spPr/>
    </dgm:pt>
    <dgm:pt modelId="{28A7DC2E-D235-40BF-8C28-D281C4AF7DAC}" type="pres">
      <dgm:prSet presAssocID="{6EE0F2AC-9EDB-4767-8CB8-9E05B005C959}" presName="sibTrans" presStyleLbl="sibTrans2D1" presStyleIdx="0" presStyleCnt="0"/>
      <dgm:spPr/>
    </dgm:pt>
    <dgm:pt modelId="{8D9BC218-3459-4697-8568-072DDAE5D681}" type="pres">
      <dgm:prSet presAssocID="{2F5B8DF5-0E2B-4CFB-84D8-B0FED867192F}" presName="Composite" presStyleCnt="0"/>
      <dgm:spPr/>
    </dgm:pt>
    <dgm:pt modelId="{AE29138F-550E-453B-AA80-94ECC6E6EE79}" type="pres">
      <dgm:prSet presAssocID="{2F5B8DF5-0E2B-4CFB-84D8-B0FED867192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3001" r="-1"/>
          <a:stretch/>
        </a:blipFill>
      </dgm:spPr>
      <dgm:extLst>
        <a:ext uri="{E40237B7-FDA0-4F09-8148-C483321AD2D9}">
          <dgm14:cNvPr xmlns:dgm14="http://schemas.microsoft.com/office/drawing/2010/diagram" id="0" name="" descr="Retirement ahead road sign in front of clear blue sky "/>
        </a:ext>
      </dgm:extLst>
    </dgm:pt>
    <dgm:pt modelId="{0A0456D7-A206-4504-A7FC-E5BC825FB330}" type="pres">
      <dgm:prSet presAssocID="{2F5B8DF5-0E2B-4CFB-84D8-B0FED867192F}" presName="Subtitle" presStyleLbl="revTx" presStyleIdx="4" presStyleCnt="6">
        <dgm:presLayoutVars>
          <dgm:chMax val="0"/>
          <dgm:bulletEnabled/>
        </dgm:presLayoutVars>
      </dgm:prSet>
      <dgm:spPr/>
    </dgm:pt>
    <dgm:pt modelId="{C4E22218-3AC4-4BD3-A072-79BE1E39CD2A}" type="pres">
      <dgm:prSet presAssocID="{2F5B8DF5-0E2B-4CFB-84D8-B0FED867192F}" presName="Description" presStyleLbl="revTx" presStyleIdx="5" presStyleCnt="6">
        <dgm:presLayoutVars>
          <dgm:bulletEnabled/>
        </dgm:presLayoutVars>
      </dgm:prSet>
      <dgm:spPr/>
    </dgm:pt>
  </dgm:ptLst>
  <dgm:cxnLst>
    <dgm:cxn modelId="{A84B7302-9DA2-46AF-8FB1-7148DF09AF58}" type="presOf" srcId="{8E0616C9-1790-4B1C-A03A-637D0F3B38C1}" destId="{C4E22218-3AC4-4BD3-A072-79BE1E39CD2A}" srcOrd="0" destOrd="0" presId="urn:microsoft.com/office/officeart/2024/3/layout/verticalVisualTextBlock1"/>
    <dgm:cxn modelId="{75D63803-B891-42C5-A25F-C1CF4C1A0670}" srcId="{3B2E01B8-F4B3-4B41-AF46-8179C1FD2A34}" destId="{2F5B8DF5-0E2B-4CFB-84D8-B0FED867192F}" srcOrd="2" destOrd="0" parTransId="{4167B798-D9FE-4C64-9F68-D8E00E576FF9}" sibTransId="{D1FA3D38-BBBD-4927-B19C-EC973E99A576}"/>
    <dgm:cxn modelId="{CAF1A22B-92A5-485C-8273-57F5959A94F5}" srcId="{3B2E01B8-F4B3-4B41-AF46-8179C1FD2A34}" destId="{3102230A-A989-4D91-BB3E-D50CC6AD5CCE}" srcOrd="1" destOrd="0" parTransId="{C39F4208-B5A7-47B2-995F-DC2EE11C5311}" sibTransId="{6EE0F2AC-9EDB-4767-8CB8-9E05B005C959}"/>
    <dgm:cxn modelId="{A22B3D5F-61FA-47B5-9D1C-F84F861917D9}" type="presOf" srcId="{2F5B8DF5-0E2B-4CFB-84D8-B0FED867192F}" destId="{0A0456D7-A206-4504-A7FC-E5BC825FB330}" srcOrd="0" destOrd="0" presId="urn:microsoft.com/office/officeart/2024/3/layout/verticalVisualTextBlock1"/>
    <dgm:cxn modelId="{F2D1ED65-BA41-49B0-B517-7D03FBF25A57}" srcId="{CE31A46E-3E16-4A56-BE1B-6232FC1A5745}" destId="{03B535D2-1BF4-450E-8E14-F7472BDA35CA}" srcOrd="0" destOrd="0" parTransId="{9A6A39E1-4C3B-445B-B09F-559895CADC23}" sibTransId="{4AD17DCE-5070-4403-AE49-E53B4C7A05A2}"/>
    <dgm:cxn modelId="{7848E24B-2997-4C37-B36B-FFDEB4C821FC}" type="presOf" srcId="{F70F3857-18BE-4C91-A60B-B893C2D648F7}" destId="{94128CA2-EE42-46B9-BDD3-66A014038D0C}" srcOrd="0" destOrd="0" presId="urn:microsoft.com/office/officeart/2024/3/layout/verticalVisualTextBlock1"/>
    <dgm:cxn modelId="{F1F7EB6E-D378-42DB-BCB4-47B6A451961A}" type="presOf" srcId="{6EE0F2AC-9EDB-4767-8CB8-9E05B005C959}" destId="{28A7DC2E-D235-40BF-8C28-D281C4AF7DAC}" srcOrd="0" destOrd="0" presId="urn:microsoft.com/office/officeart/2024/3/layout/verticalVisualTextBlock1"/>
    <dgm:cxn modelId="{A1F1C286-9390-4A5E-862A-E5DE863517A5}" srcId="{3B2E01B8-F4B3-4B41-AF46-8179C1FD2A34}" destId="{CE31A46E-3E16-4A56-BE1B-6232FC1A5745}" srcOrd="0" destOrd="0" parTransId="{E5E5D963-EBAF-4FA0-A924-3A5655F9106F}" sibTransId="{C245B649-A523-4D9E-9DD0-9BC9D915B733}"/>
    <dgm:cxn modelId="{5EFEE599-4CE5-4F77-A924-01404ADA5CBC}" type="presOf" srcId="{C245B649-A523-4D9E-9DD0-9BC9D915B733}" destId="{5EC5F892-E980-4026-AC0D-BA9252DCD180}" srcOrd="0" destOrd="0" presId="urn:microsoft.com/office/officeart/2024/3/layout/verticalVisualTextBlock1"/>
    <dgm:cxn modelId="{A1E572A3-5878-4130-BDAB-F16F8684A22E}" srcId="{3102230A-A989-4D91-BB3E-D50CC6AD5CCE}" destId="{F70F3857-18BE-4C91-A60B-B893C2D648F7}" srcOrd="0" destOrd="0" parTransId="{24F1E589-580C-44A5-AC2F-F5BE6E8AA6F7}" sibTransId="{65FD9189-48BA-4018-99E4-A1C5FC7406CD}"/>
    <dgm:cxn modelId="{2B4781AF-9895-47B3-8F8E-4E3055C34F29}" type="presOf" srcId="{CE31A46E-3E16-4A56-BE1B-6232FC1A5745}" destId="{150C0FD7-6AB5-4276-8901-F49C1D3C8379}" srcOrd="0" destOrd="0" presId="urn:microsoft.com/office/officeart/2024/3/layout/verticalVisualTextBlock1"/>
    <dgm:cxn modelId="{989760CB-8FA7-42FB-BB11-58D81AA6C1FD}" type="presOf" srcId="{03B535D2-1BF4-450E-8E14-F7472BDA35CA}" destId="{14861C5D-5C64-4FD5-B441-64B0281392DE}" srcOrd="0" destOrd="0" presId="urn:microsoft.com/office/officeart/2024/3/layout/verticalVisualTextBlock1"/>
    <dgm:cxn modelId="{A7A130CC-B96B-425D-BAD9-5D63CF00DFE8}" srcId="{2F5B8DF5-0E2B-4CFB-84D8-B0FED867192F}" destId="{8E0616C9-1790-4B1C-A03A-637D0F3B38C1}" srcOrd="0" destOrd="0" parTransId="{CBE66BA7-A861-4DCC-85C9-692518111F14}" sibTransId="{BD35584A-B4A2-4F9D-95C3-B5A34F2C657E}"/>
    <dgm:cxn modelId="{944030DC-493D-44D2-AB71-661C2A2A185B}" type="presOf" srcId="{3B2E01B8-F4B3-4B41-AF46-8179C1FD2A34}" destId="{0A255CB2-2A84-4003-BEDE-2651B684155A}" srcOrd="0" destOrd="0" presId="urn:microsoft.com/office/officeart/2024/3/layout/verticalVisualTextBlock1"/>
    <dgm:cxn modelId="{F71685F1-FE39-433F-991C-30938252DC21}" type="presOf" srcId="{3102230A-A989-4D91-BB3E-D50CC6AD5CCE}" destId="{CBD8E964-6628-404E-90ED-90ADD2305DED}" srcOrd="0" destOrd="0" presId="urn:microsoft.com/office/officeart/2024/3/layout/verticalVisualTextBlock1"/>
    <dgm:cxn modelId="{0F408252-B667-4942-A28F-E743A7DAAD48}" type="presParOf" srcId="{0A255CB2-2A84-4003-BEDE-2651B684155A}" destId="{30EC635E-B4DC-4D00-B59B-8B71C24E3CFB}" srcOrd="0" destOrd="0" presId="urn:microsoft.com/office/officeart/2024/3/layout/verticalVisualTextBlock1"/>
    <dgm:cxn modelId="{90D1E436-61B7-471A-BA6A-F8E52BC1C27A}" type="presParOf" srcId="{30EC635E-B4DC-4D00-B59B-8B71C24E3CFB}" destId="{4D3150ED-CA84-4693-89D5-8F9111E9DE7A}" srcOrd="0" destOrd="0" presId="urn:microsoft.com/office/officeart/2024/3/layout/verticalVisualTextBlock1"/>
    <dgm:cxn modelId="{8CF127D1-69CB-4C53-A9C8-E0F0B835217D}" type="presParOf" srcId="{30EC635E-B4DC-4D00-B59B-8B71C24E3CFB}" destId="{150C0FD7-6AB5-4276-8901-F49C1D3C8379}" srcOrd="1" destOrd="0" presId="urn:microsoft.com/office/officeart/2024/3/layout/verticalVisualTextBlock1"/>
    <dgm:cxn modelId="{EDF4FE31-C354-44C9-9254-24E965ED9587}" type="presParOf" srcId="{30EC635E-B4DC-4D00-B59B-8B71C24E3CFB}" destId="{14861C5D-5C64-4FD5-B441-64B0281392DE}" srcOrd="2" destOrd="0" presId="urn:microsoft.com/office/officeart/2024/3/layout/verticalVisualTextBlock1"/>
    <dgm:cxn modelId="{2963A2A8-1C0C-475D-846B-00732F03C548}" type="presParOf" srcId="{0A255CB2-2A84-4003-BEDE-2651B684155A}" destId="{5EC5F892-E980-4026-AC0D-BA9252DCD180}" srcOrd="1" destOrd="0" presId="urn:microsoft.com/office/officeart/2024/3/layout/verticalVisualTextBlock1"/>
    <dgm:cxn modelId="{97C2CAE0-6D9A-4753-B30C-283E0EF7A369}" type="presParOf" srcId="{0A255CB2-2A84-4003-BEDE-2651B684155A}" destId="{2098B725-998E-4293-8AE7-9A97616EDC90}" srcOrd="2" destOrd="0" presId="urn:microsoft.com/office/officeart/2024/3/layout/verticalVisualTextBlock1"/>
    <dgm:cxn modelId="{EEE8D38B-0BF7-4615-A543-89A0880F29C6}" type="presParOf" srcId="{2098B725-998E-4293-8AE7-9A97616EDC90}" destId="{C195FCF5-DF7D-47B4-8C5F-510EA8363776}" srcOrd="0" destOrd="0" presId="urn:microsoft.com/office/officeart/2024/3/layout/verticalVisualTextBlock1"/>
    <dgm:cxn modelId="{F1B4CD73-05E7-4FC0-A063-3AA18582A1F5}" type="presParOf" srcId="{2098B725-998E-4293-8AE7-9A97616EDC90}" destId="{CBD8E964-6628-404E-90ED-90ADD2305DED}" srcOrd="1" destOrd="0" presId="urn:microsoft.com/office/officeart/2024/3/layout/verticalVisualTextBlock1"/>
    <dgm:cxn modelId="{419FE048-4527-48E9-A5E6-D2927C2B52A7}" type="presParOf" srcId="{2098B725-998E-4293-8AE7-9A97616EDC90}" destId="{94128CA2-EE42-46B9-BDD3-66A014038D0C}" srcOrd="2" destOrd="0" presId="urn:microsoft.com/office/officeart/2024/3/layout/verticalVisualTextBlock1"/>
    <dgm:cxn modelId="{3BC4AFDD-2811-4C21-A3C1-F38DA89C5887}" type="presParOf" srcId="{0A255CB2-2A84-4003-BEDE-2651B684155A}" destId="{28A7DC2E-D235-40BF-8C28-D281C4AF7DAC}" srcOrd="3" destOrd="0" presId="urn:microsoft.com/office/officeart/2024/3/layout/verticalVisualTextBlock1"/>
    <dgm:cxn modelId="{39FFA2D5-1CF6-4C2C-A50B-DE75FE49A164}" type="presParOf" srcId="{0A255CB2-2A84-4003-BEDE-2651B684155A}" destId="{8D9BC218-3459-4697-8568-072DDAE5D681}" srcOrd="4" destOrd="0" presId="urn:microsoft.com/office/officeart/2024/3/layout/verticalVisualTextBlock1"/>
    <dgm:cxn modelId="{56CFE42B-0E34-4D71-8976-51009990FFFA}" type="presParOf" srcId="{8D9BC218-3459-4697-8568-072DDAE5D681}" destId="{AE29138F-550E-453B-AA80-94ECC6E6EE79}" srcOrd="0" destOrd="0" presId="urn:microsoft.com/office/officeart/2024/3/layout/verticalVisualTextBlock1"/>
    <dgm:cxn modelId="{2556747F-949E-4CD3-8FF3-567665D85A82}" type="presParOf" srcId="{8D9BC218-3459-4697-8568-072DDAE5D681}" destId="{0A0456D7-A206-4504-A7FC-E5BC825FB330}" srcOrd="1" destOrd="0" presId="urn:microsoft.com/office/officeart/2024/3/layout/verticalVisualTextBlock1"/>
    <dgm:cxn modelId="{94477D8B-3352-4108-B291-87FA264ACE90}" type="presParOf" srcId="{8D9BC218-3459-4697-8568-072DDAE5D681}" destId="{C4E22218-3AC4-4BD3-A072-79BE1E39CD2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3150ED-CA84-4693-89D5-8F9111E9DE7A}">
      <dsp:nvSpPr>
        <dsp:cNvPr id="0" name=""/>
        <dsp:cNvSpPr/>
      </dsp:nvSpPr>
      <dsp:spPr>
        <a:xfrm>
          <a:off x="0" y="0"/>
          <a:ext cx="1408486" cy="1408486"/>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 r="-7" b="-6"/>
          <a:stretch/>
        </a:blipFill>
        <a:ln>
          <a:noFill/>
        </a:ln>
        <a:effectLst/>
      </dsp:spPr>
      <dsp:style>
        <a:lnRef idx="0">
          <a:scrgbClr r="0" g="0" b="0"/>
        </a:lnRef>
        <a:fillRef idx="3">
          <a:scrgbClr r="0" g="0" b="0"/>
        </a:fillRef>
        <a:effectRef idx="2">
          <a:scrgbClr r="0" g="0" b="0"/>
        </a:effectRef>
        <a:fontRef idx="minor">
          <a:schemeClr val="lt1"/>
        </a:fontRef>
      </dsp:style>
    </dsp:sp>
    <dsp:sp modelId="{150C0FD7-6AB5-4276-8901-F49C1D3C8379}">
      <dsp:nvSpPr>
        <dsp:cNvPr id="0" name=""/>
        <dsp:cNvSpPr/>
      </dsp:nvSpPr>
      <dsp:spPr>
        <a:xfrm>
          <a:off x="1588486" y="0"/>
          <a:ext cx="9425183" cy="367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Continuous Metrics Evaluation</a:t>
          </a:r>
        </a:p>
      </dsp:txBody>
      <dsp:txXfrm>
        <a:off x="1588486" y="0"/>
        <a:ext cx="9425183" cy="367675"/>
      </dsp:txXfrm>
    </dsp:sp>
    <dsp:sp modelId="{14861C5D-5C64-4FD5-B441-64B0281392DE}">
      <dsp:nvSpPr>
        <dsp:cNvPr id="0" name=""/>
        <dsp:cNvSpPr/>
      </dsp:nvSpPr>
      <dsp:spPr>
        <a:xfrm>
          <a:off x="1588486" y="367675"/>
          <a:ext cx="9425183" cy="10408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Prometheus continuously monitors application and infrastructure metrics using custom alerting rules.</a:t>
          </a:r>
        </a:p>
      </dsp:txBody>
      <dsp:txXfrm>
        <a:off x="1588486" y="367675"/>
        <a:ext cx="9425183" cy="1040811"/>
      </dsp:txXfrm>
    </dsp:sp>
    <dsp:sp modelId="{C195FCF5-DF7D-47B4-8C5F-510EA8363776}">
      <dsp:nvSpPr>
        <dsp:cNvPr id="0" name=""/>
        <dsp:cNvSpPr/>
      </dsp:nvSpPr>
      <dsp:spPr>
        <a:xfrm>
          <a:off x="0" y="1521165"/>
          <a:ext cx="1408486" cy="1408486"/>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4107" r="10894" b="1"/>
          <a:stretch/>
        </a:blipFill>
        <a:ln>
          <a:noFill/>
        </a:ln>
        <a:effectLst/>
      </dsp:spPr>
      <dsp:style>
        <a:lnRef idx="0">
          <a:scrgbClr r="0" g="0" b="0"/>
        </a:lnRef>
        <a:fillRef idx="3">
          <a:scrgbClr r="0" g="0" b="0"/>
        </a:fillRef>
        <a:effectRef idx="2">
          <a:scrgbClr r="0" g="0" b="0"/>
        </a:effectRef>
        <a:fontRef idx="minor">
          <a:schemeClr val="lt1"/>
        </a:fontRef>
      </dsp:style>
    </dsp:sp>
    <dsp:sp modelId="{CBD8E964-6628-404E-90ED-90ADD2305DED}">
      <dsp:nvSpPr>
        <dsp:cNvPr id="0" name=""/>
        <dsp:cNvSpPr/>
      </dsp:nvSpPr>
      <dsp:spPr>
        <a:xfrm>
          <a:off x="1588486" y="1521165"/>
          <a:ext cx="9425183" cy="367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Threshold-Based Alerting</a:t>
          </a:r>
        </a:p>
      </dsp:txBody>
      <dsp:txXfrm>
        <a:off x="1588486" y="1521165"/>
        <a:ext cx="9425183" cy="367675"/>
      </dsp:txXfrm>
    </dsp:sp>
    <dsp:sp modelId="{94128CA2-EE42-46B9-BDD3-66A014038D0C}">
      <dsp:nvSpPr>
        <dsp:cNvPr id="0" name=""/>
        <dsp:cNvSpPr/>
      </dsp:nvSpPr>
      <dsp:spPr>
        <a:xfrm>
          <a:off x="1588486" y="1888841"/>
          <a:ext cx="9425183" cy="10408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Alerts are triggered when metrics exceed defined thresholds, ensuring timely anomaly detection.</a:t>
          </a:r>
        </a:p>
      </dsp:txBody>
      <dsp:txXfrm>
        <a:off x="1588486" y="1888841"/>
        <a:ext cx="9425183" cy="1040811"/>
      </dsp:txXfrm>
    </dsp:sp>
    <dsp:sp modelId="{AE29138F-550E-453B-AA80-94ECC6E6EE79}">
      <dsp:nvSpPr>
        <dsp:cNvPr id="0" name=""/>
        <dsp:cNvSpPr/>
      </dsp:nvSpPr>
      <dsp:spPr>
        <a:xfrm>
          <a:off x="0" y="3042331"/>
          <a:ext cx="1408486" cy="1408486"/>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3001" r="-1"/>
          <a:stretch/>
        </a:blipFill>
        <a:ln>
          <a:noFill/>
        </a:ln>
        <a:effectLst/>
      </dsp:spPr>
      <dsp:style>
        <a:lnRef idx="0">
          <a:scrgbClr r="0" g="0" b="0"/>
        </a:lnRef>
        <a:fillRef idx="3">
          <a:scrgbClr r="0" g="0" b="0"/>
        </a:fillRef>
        <a:effectRef idx="2">
          <a:scrgbClr r="0" g="0" b="0"/>
        </a:effectRef>
        <a:fontRef idx="minor">
          <a:schemeClr val="lt1"/>
        </a:fontRef>
      </dsp:style>
    </dsp:sp>
    <dsp:sp modelId="{0A0456D7-A206-4504-A7FC-E5BC825FB330}">
      <dsp:nvSpPr>
        <dsp:cNvPr id="0" name=""/>
        <dsp:cNvSpPr/>
      </dsp:nvSpPr>
      <dsp:spPr>
        <a:xfrm>
          <a:off x="1588486" y="3042331"/>
          <a:ext cx="9425183" cy="367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Contextual Alert Forwarding</a:t>
          </a:r>
        </a:p>
      </dsp:txBody>
      <dsp:txXfrm>
        <a:off x="1588486" y="3042331"/>
        <a:ext cx="9425183" cy="367675"/>
      </dsp:txXfrm>
    </dsp:sp>
    <dsp:sp modelId="{C4E22218-3AC4-4BD3-A072-79BE1E39CD2A}">
      <dsp:nvSpPr>
        <dsp:cNvPr id="0" name=""/>
        <dsp:cNvSpPr/>
      </dsp:nvSpPr>
      <dsp:spPr>
        <a:xfrm>
          <a:off x="1588486" y="3410006"/>
          <a:ext cx="9425183" cy="10408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Alerts include detailed labels and annotations to aid automated downstream processing and remediation.</a:t>
          </a:r>
        </a:p>
      </dsp:txBody>
      <dsp:txXfrm>
        <a:off x="1588486" y="3410006"/>
        <a:ext cx="9425183" cy="104081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3/24/2026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‹Nr.›</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‹Nr.›</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2174056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Flow Overview, Detection with Prometheus, Orchestration and RCA via Concert and Instana, Change Management Through GitOps, Continuous Delivery with Argo CD, Environment Stabilization with Kubernetes, Visual Architecture Flow</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2828079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3269-6B79-0F01-7887-4720834DD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27FDA-1A6F-9C48-FEBE-A187FAB1C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B2E91-298A-8DC3-0F9D-F59B232A4333}"/>
              </a:ext>
            </a:extLst>
          </p:cNvPr>
          <p:cNvSpPr>
            <a:spLocks noGrp="1"/>
          </p:cNvSpPr>
          <p:nvPr>
            <p:ph type="body" idx="1"/>
          </p:nvPr>
        </p:nvSpPr>
        <p:spPr/>
        <p:txBody>
          <a:bodyPr/>
          <a:lstStyle/>
          <a:p>
            <a:r>
              <a:rPr lang="en-US"/>
              <a:t>
This slide provides a comprehensive overview of an autonomous remediation pipeline designed to identify, analyze, and resolve system issues without manual intervention. The flow begins with Prometheus, an industry-standard monitoring system that continuously evaluates service health using metrics-based alerting rules. When a threshold is breached—such as elevated latency, increased error rates, or resource saturation—Prometheus generates an alert enriched with contextual labels. This alert is then handed off to Concert, which orchestrates the first level of response by selecting and executing appropriate remediation workflows. Instana enhances this process by analyzing real-time traces, metrics, and distributed service dependencies to surface intelligent root-cause suggestions. These insights guide remediation decisions and reduce mean time to resolution. Once the remediation workflow determines the required fix, the change is formalized through a GitOps workflow, where patches are created, peer-reviewed, validated, and merged. Git becomes the authoritative source of truth, ensuring traceability and governance. Argo CD continuously monitors the Git repository, detects desired state changes, and deploys them automatically to the Kubernetes environment. Kubernetes then concludes the pipeline by stabilizing the environment through reconciliation loops and its self‑healing capabilities. This end‑to‑end process ensures safe, automated, and auditable remediation of operational issues across cloud‑native systems.</a:t>
            </a:r>
          </a:p>
        </p:txBody>
      </p:sp>
      <p:sp>
        <p:nvSpPr>
          <p:cNvPr id="4" name="Slide Number Placeholder 3">
            <a:extLst>
              <a:ext uri="{FF2B5EF4-FFF2-40B4-BE49-F238E27FC236}">
                <a16:creationId xmlns:a16="http://schemas.microsoft.com/office/drawing/2014/main" id="{88C079BD-6402-4DB3-F387-A14C4DCF997D}"/>
              </a:ext>
            </a:extLst>
          </p:cNvPr>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2527861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75CE-48ED-3F3D-16C2-05363949F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05923-E69B-947D-6B2F-D6CA94598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F7E72-1D69-820D-9C69-4834692013E4}"/>
              </a:ext>
            </a:extLst>
          </p:cNvPr>
          <p:cNvSpPr>
            <a:spLocks noGrp="1"/>
          </p:cNvSpPr>
          <p:nvPr>
            <p:ph type="body" idx="1"/>
          </p:nvPr>
        </p:nvSpPr>
        <p:spPr/>
        <p:txBody>
          <a:bodyPr/>
          <a:lstStyle/>
          <a:p>
            <a:r>
              <a:rPr lang="en-US"/>
              <a:t>
This slide provides a comprehensive overview of an autonomous remediation pipeline designed to identify, analyze, and resolve system issues without manual intervention. The flow begins with Prometheus, an industry-standard monitoring system that continuously evaluates service health using metrics-based alerting rules. When a threshold is breached—such as elevated latency, increased error rates, or resource saturation—Prometheus generates an alert enriched with contextual labels. This alert is then handed off to Concert, which orchestrates the first level of response by selecting and executing appropriate remediation workflows. Instana enhances this process by analyzing real-time traces, metrics, and distributed service dependencies to surface intelligent root-cause suggestions. These insights guide remediation decisions and reduce mean time to resolution. Once the remediation workflow determines the required fix, the change is formalized through a GitOps workflow, where patches are created, peer-reviewed, validated, and merged. Git becomes the authoritative source of truth, ensuring traceability and governance. Argo CD continuously monitors the Git repository, detects desired state changes, and deploys them automatically to the Kubernetes environment. Kubernetes then concludes the pipeline by stabilizing the environment through reconciliation loops and its self‑healing capabilities. This end‑to‑end process ensures safe, automated, and auditable remediation of operational issues across cloud‑native systems.</a:t>
            </a:r>
          </a:p>
        </p:txBody>
      </p:sp>
      <p:sp>
        <p:nvSpPr>
          <p:cNvPr id="4" name="Slide Number Placeholder 3">
            <a:extLst>
              <a:ext uri="{FF2B5EF4-FFF2-40B4-BE49-F238E27FC236}">
                <a16:creationId xmlns:a16="http://schemas.microsoft.com/office/drawing/2014/main" id="{2B82AE09-03C6-2A2F-DE67-6884C5E9127A}"/>
              </a:ext>
            </a:extLst>
          </p:cNvPr>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815760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FFC1-5B7A-3005-3DA4-F1A4B80B1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D12FF-8E01-3ABD-8369-1ABB1A067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DDFC4-D138-562C-7D61-EE4DFCA38645}"/>
              </a:ext>
            </a:extLst>
          </p:cNvPr>
          <p:cNvSpPr>
            <a:spLocks noGrp="1"/>
          </p:cNvSpPr>
          <p:nvPr>
            <p:ph type="body" idx="1"/>
          </p:nvPr>
        </p:nvSpPr>
        <p:spPr/>
        <p:txBody>
          <a:bodyPr/>
          <a:lstStyle/>
          <a:p>
            <a:r>
              <a:rPr lang="en-US"/>
              <a:t>
This slide provides a comprehensive overview of an autonomous remediation pipeline designed to identify, analyze, and resolve system issues without manual intervention. The flow begins with Prometheus, an industry-standard monitoring system that continuously evaluates service health using metrics-based alerting rules. When a threshold is breached—such as elevated latency, increased error rates, or resource saturation—Prometheus generates an alert enriched with contextual labels. This alert is then handed off to Concert, which orchestrates the first level of response by selecting and executing appropriate remediation workflows. Instana enhances this process by analyzing real-time traces, metrics, and distributed service dependencies to surface intelligent root-cause suggestions. These insights guide remediation decisions and reduce mean time to resolution. Once the remediation workflow determines the required fix, the change is formalized through a GitOps workflow, where patches are created, peer-reviewed, validated, and merged. Git becomes the authoritative source of truth, ensuring traceability and governance. Argo CD continuously monitors the Git repository, detects desired state changes, and deploys them automatically to the Kubernetes environment. Kubernetes then concludes the pipeline by stabilizing the environment through reconciliation loops and its self‑healing capabilities. This end‑to‑end process ensures safe, automated, and auditable remediation of operational issues across cloud‑native systems.</a:t>
            </a:r>
          </a:p>
        </p:txBody>
      </p:sp>
      <p:sp>
        <p:nvSpPr>
          <p:cNvPr id="4" name="Slide Number Placeholder 3">
            <a:extLst>
              <a:ext uri="{FF2B5EF4-FFF2-40B4-BE49-F238E27FC236}">
                <a16:creationId xmlns:a16="http://schemas.microsoft.com/office/drawing/2014/main" id="{04794E1B-A9D2-A5F1-2A71-1507C712D40D}"/>
              </a:ext>
            </a:extLst>
          </p:cNvPr>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49764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Prometheus initiates the remediation pipeline by serving as the primary detection system. It continuously evaluates application and infrastructure metrics through user‑defined alerting rules. These may measure service-level indicators such as request throughput, error ratios, CPU saturation, or latency percentiles. When a condition meets or exceeds a defined threshold, Prometheus fires an alert and forwards it to the configured Alertmanager routes. These alerts include labels and annotations that provide key context—such as affected services, failure types, and severity levels—which downstream tools rely on for automated processing. This mechanism ensures prompt detection of anomalies and forms the backbone of the autonomous remediation workflow.</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2699797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Concert serves as the orchestration engine that receives alerts from Prometheus and triggers appropriate remediation workflows. These workflows may include diagnostic commands, safety checks, or targeted corrective actions. Concert ensures that each remediation step follows predefined runbooks to maintain consistency and safety across environments. Instana complements this stage by providing deep insights through intelligent root-cause analysis. It correlates distributed traces, telemetry data, and service topology to identify the most probable sources of failure. Its real‑time analytics reduce noise and highlight actionable insights, allowing Concert to drive more precise and effective automated remediation. Together, Concert and Instana significantly accelerate incident response and reduce operational overhead.</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2412311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GitOps introduces structured, auditable change management into the remediation process. After identifying the required fix, the system generates a patch or pull request against infrastructure‑as‑code or application manifests stored in version control. This ensures that all modifications are reviewed through established CI workflows, policy checks, automated testing, and peer validation. Once approved, the merge commit becomes the canonical desired state for the environment. This approach guarantees traceability, security, and compliance while providing a consistent mechanism for automated remediation. By centralizing all changes in Git, teams gain full historical visibility and the ability to roll back quickly when necessary.</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2763766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Argo CD plays a central role in bridging Git and the runtime environment through continuous delivery automation. It continuously monitors the Git repository for changes to the declared state and compares them to the live cluster configuration. When it detects a drift—or identifies new changes introduced by a merged patch—it initiates a synchronization process to apply the desired state to the Kubernetes cluster. Argo CD verifies application health post‑deployment, enforces sync policies, and can roll back changes automatically if service-level objectives are violated. This ensures safe, predictable, and repeatable delivery of remediation‑driven updates.</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1551773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Kubernetes closes the autonomous remediation loop by enforcing the declared state and ensuring operational stability. Its controllers continuously reconcile actual resource states—such as deployments, pods, and services—against the desired configuration defined in Git. Kubernetes provides built‑in self‑healing by restarting failed containers, rescheduling workloads on healthy nodes, and automatically adjusting resources through horizontal or cluster autoscaling. These mechanisms help maintain service reliability and minimize downtime after automated fixes are deployed. Through reconciliation and healing loops, Kubernetes ensures that the environment remains stable, resilient, and aligned with the intended operational state.</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4204832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visual architecture slide depicts the entire automated remediation process as a sequential flow. It begins with Prometheus at the top, representing detection and alert generation. A connector arrow leads to Concert, symbolizing workflow orchestration. Instana follows, providing root‑cause intelligence that enhances the remediation workflow's decision‑making capability. The next stage in the diagram illustrates GitOps, where patches are created, reviewed, validated, and merged into the repository. Another arrow directs to Argo CD, highlighting its role in detecting changes and deploying updates automatically. The final component in the diagram is Kubernetes, which stabilizes the environment through reconciliation and self‑healing. Together, the diagram effectively conveys how each component integrates to support a fully automated detection‑to‑remediation pipeline.</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32960584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‹Nr.›</a:t>
            </a:fld>
            <a:endParaRPr lang="en-US" dirty="0"/>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dirty="0"/>
              <a:t>Click to edit Master title style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dirty="0"/>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dirty="0"/>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‹Nr.›</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‹Nr.›</a:t>
            </a:fld>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dirty="0"/>
          </a:p>
        </p:txBody>
      </p:sp>
      <p:pic>
        <p:nvPicPr>
          <p:cNvPr id="9" name="Graphic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dirty="0"/>
              <a:t>Click to edit Master title style</a:t>
            </a:r>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‹Nr.›</a:t>
            </a:fld>
            <a:endParaRPr lang="en-US" dirty="0"/>
          </a:p>
        </p:txBody>
      </p:sp>
      <p:pic>
        <p:nvPicPr>
          <p:cNvPr id="7" name="Graphic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anchor="b"/>
          <a:lstStyle/>
          <a:p>
            <a:r>
              <a:rPr lang="en-US" dirty="0"/>
              <a:t>Click to edit Master title style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a:lstStyle/>
          <a:p>
            <a:r>
              <a:rPr lang="en-US" dirty="0"/>
              <a:t>Click to edit Master title style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4" name="Graphic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id="{0A449A66-B9FA-B1A3-04A3-A26F172F2F2B}"/>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1B475A5-95F7-BE62-7ACD-C8EB9F445B79}"/>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a:lstStyle/>
          <a:p>
            <a:fld id="{CC057153-B650-4DEB-B370-79DDCFDCE934}" type="slidenum">
              <a:rPr lang="en-US" smtClean="0"/>
              <a:pPr/>
              <a:t>‹Nr.›</a:t>
            </a:fld>
            <a:endParaRPr lang="en-US" dirty="0"/>
          </a:p>
        </p:txBody>
      </p:sp>
      <p:sp>
        <p:nvSpPr>
          <p:cNvPr id="8" name="Titl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‹Nr.›</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dirty="0"/>
              <a:t>Click to edit Master subtitle style</a:t>
            </a:r>
          </a:p>
        </p:txBody>
      </p:sp>
      <p:sp>
        <p:nvSpPr>
          <p:cNvPr id="10" name="Oval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a:lstStyle/>
          <a:p>
            <a:r>
              <a:rPr lang="en-US" dirty="0"/>
              <a:t>Click to edit Master title style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dirty="0"/>
              <a:t>Click to edit Master title style</a:t>
            </a:r>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a:lstStyle/>
          <a:p>
            <a:r>
              <a:rPr lang="en-US" dirty="0"/>
              <a:t>Click to edit Master title style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anchor="b"/>
          <a:lstStyle/>
          <a:p>
            <a:r>
              <a:rPr lang="en-US" dirty="0"/>
              <a:t>Click to edit Master title style</a:t>
            </a:r>
          </a:p>
        </p:txBody>
      </p:sp>
    </p:spTree>
    <p:extLst>
      <p:ext uri="{BB962C8B-B14F-4D97-AF65-F5344CB8AC3E}">
        <p14:creationId xmlns:p14="http://schemas.microsoft.com/office/powerpoint/2010/main" val="27098337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Oval 7">
            <a:extLst>
              <a:ext uri="{FF2B5EF4-FFF2-40B4-BE49-F238E27FC236}">
                <a16:creationId xmlns:a16="http://schemas.microsoft.com/office/drawing/2014/main" id="{175C8E38-E957-9E3C-9A05-717C0F009AB9}"/>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2305436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5898630" cy="1628639"/>
          </a:xfrm>
        </p:spPr>
        <p:txBody>
          <a:bodyPr anchor="t">
            <a:normAutofit/>
          </a:bodyPr>
          <a:lstStyle>
            <a:lvl1pPr>
              <a:defRPr sz="5600"/>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8818"/>
            <a:ext cx="5275973"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219"/>
            <a:ext cx="429207" cy="365125"/>
          </a:xfrm>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577705"/>
            <a:ext cx="5895668" cy="4266084"/>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2229A90D-5A73-BC75-5D99-5E652EA0F3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464" y="5857382"/>
            <a:ext cx="1005840" cy="100584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882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7534384" cy="3513095"/>
          </a:xfrm>
        </p:spPr>
        <p:txBody>
          <a:bodyPr anchor="t" anchorCtr="0">
            <a:no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76116" y="4017192"/>
            <a:ext cx="4063655" cy="2814212"/>
          </a:xfrm>
        </p:spPr>
        <p:txBody>
          <a:bodyPr anchor="b" anchorCtr="0">
            <a:normAutofit/>
          </a:bodyPr>
          <a:lstStyle>
            <a:lvl1pPr marL="342900" indent="-342900" algn="r">
              <a:buFont typeface="+mj-lt"/>
              <a:buAutoNum type="arabicPeriod"/>
              <a:defRPr sz="1400"/>
            </a:lvl1pPr>
            <a:lvl2pPr marL="571500" indent="-342900" algn="r">
              <a:buFont typeface="+mj-lt"/>
              <a:buAutoNum type="arabicPeriod"/>
              <a:defRPr sz="1400"/>
            </a:lvl2pPr>
            <a:lvl3pPr marL="800100" indent="-342900" algn="r">
              <a:buFont typeface="+mj-lt"/>
              <a:buAutoNum type="arabicPeriod"/>
              <a:defRPr sz="1400"/>
            </a:lvl3pPr>
            <a:lvl4pPr marL="1028700" indent="-342900" algn="r">
              <a:buFont typeface="+mj-lt"/>
              <a:buAutoNum type="arabicPeriod"/>
              <a:defRPr sz="1400"/>
            </a:lvl4pPr>
            <a:lvl5pPr marL="1257300" indent="-342900" algn="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3">
            <a:extLst>
              <a:ext uri="{FF2B5EF4-FFF2-40B4-BE49-F238E27FC236}">
                <a16:creationId xmlns:a16="http://schemas.microsoft.com/office/drawing/2014/main" id="{0E7C9240-617B-1770-A044-328C31CB6A15}"/>
              </a:ext>
            </a:extLst>
          </p:cNvPr>
          <p:cNvSpPr>
            <a:spLocks noGrp="1"/>
          </p:cNvSpPr>
          <p:nvPr>
            <p:ph type="ftr" sz="quarter" idx="11"/>
          </p:nvPr>
        </p:nvSpPr>
        <p:spPr>
          <a:xfrm>
            <a:off x="7704945" y="118818"/>
            <a:ext cx="3779918"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‹Nr.›</a:t>
            </a:fld>
            <a:endParaRPr lang="en-US" dirty="0"/>
          </a:p>
        </p:txBody>
      </p:sp>
      <p:sp>
        <p:nvSpPr>
          <p:cNvPr id="11" name="Picture Placeholder 10">
            <a:extLst>
              <a:ext uri="{FF2B5EF4-FFF2-40B4-BE49-F238E27FC236}">
                <a16:creationId xmlns:a16="http://schemas.microsoft.com/office/drawing/2014/main" id="{C7452E47-6DDB-EA53-7FB9-2BA726EB77DA}"/>
              </a:ext>
            </a:extLst>
          </p:cNvPr>
          <p:cNvSpPr>
            <a:spLocks noGrp="1"/>
          </p:cNvSpPr>
          <p:nvPr>
            <p:ph type="pic" sz="quarter" idx="14" hasCustomPrompt="1"/>
          </p:nvPr>
        </p:nvSpPr>
        <p:spPr>
          <a:xfrm>
            <a:off x="7772400" y="989351"/>
            <a:ext cx="4284026" cy="5789588"/>
          </a:xfrm>
          <a:blipFill>
            <a:blip r:embed="rId2">
              <a:alphaModFix amt="70000"/>
            </a:blip>
            <a:stretch>
              <a:fillRect/>
            </a:stretch>
          </a:blipFill>
        </p:spPr>
        <p:txBody>
          <a:bodyPr/>
          <a:lstStyle>
            <a:lvl1pPr>
              <a:defRPr lang="en-US" dirty="0"/>
            </a:lvl1pPr>
          </a:lstStyle>
          <a:p>
            <a:r>
              <a:rPr lang="en-US" dirty="0"/>
              <a:t> </a:t>
            </a:r>
          </a:p>
        </p:txBody>
      </p:sp>
      <p:pic>
        <p:nvPicPr>
          <p:cNvPr id="6" name="Graphic 5">
            <a:extLst>
              <a:ext uri="{FF2B5EF4-FFF2-40B4-BE49-F238E27FC236}">
                <a16:creationId xmlns:a16="http://schemas.microsoft.com/office/drawing/2014/main" id="{1556323E-CFBE-3917-9F8D-C2431E41FB0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206" y="6047419"/>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 y="82296"/>
            <a:ext cx="4390515" cy="2418146"/>
          </a:xfrm>
        </p:spPr>
        <p:txBody>
          <a:bodyPr>
            <a:norm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0" y="4373735"/>
            <a:ext cx="4389120" cy="2459736"/>
          </a:xfrm>
        </p:spPr>
        <p:txBody>
          <a:bodyPr anchor="b"/>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EB560304-B220-9740-0823-17F13E1DFD7F}"/>
              </a:ext>
            </a:extLst>
          </p:cNvPr>
          <p:cNvSpPr>
            <a:spLocks noGrp="1"/>
          </p:cNvSpPr>
          <p:nvPr>
            <p:ph type="ftr" sz="quarter" idx="15"/>
          </p:nvPr>
        </p:nvSpPr>
        <p:spPr>
          <a:xfrm>
            <a:off x="6190488" y="110364"/>
            <a:ext cx="5358238"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A6D8939A-F7AC-2C38-E1F0-99EA290DC600}"/>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‹Nr.›</a:t>
            </a:fld>
            <a:endParaRPr lang="en-US" dirty="0"/>
          </a:p>
        </p:txBody>
      </p:sp>
      <p:sp>
        <p:nvSpPr>
          <p:cNvPr id="3" name="Date Placeholder 2">
            <a:extLst>
              <a:ext uri="{FF2B5EF4-FFF2-40B4-BE49-F238E27FC236}">
                <a16:creationId xmlns:a16="http://schemas.microsoft.com/office/drawing/2014/main" id="{7EB9051D-F4ED-4EE6-2F1F-2E67035938D8}"/>
              </a:ext>
            </a:extLst>
          </p:cNvPr>
          <p:cNvSpPr>
            <a:spLocks noGrp="1"/>
          </p:cNvSpPr>
          <p:nvPr>
            <p:ph type="dt" sz="half" idx="14"/>
          </p:nvPr>
        </p:nvSpPr>
        <p:spPr>
          <a:xfrm>
            <a:off x="6190488" y="6468346"/>
            <a:ext cx="2899852" cy="365125"/>
          </a:xfrm>
        </p:spPr>
        <p:txBody>
          <a:bodyPr anchor="b"/>
          <a:lstStyle/>
          <a:p>
            <a:endParaRPr lang="en-US" dirty="0"/>
          </a:p>
        </p:txBody>
      </p:sp>
      <p:sp>
        <p:nvSpPr>
          <p:cNvPr id="4" name="Oval 3">
            <a:extLst>
              <a:ext uri="{FF2B5EF4-FFF2-40B4-BE49-F238E27FC236}">
                <a16:creationId xmlns:a16="http://schemas.microsoft.com/office/drawing/2014/main" id="{355DE040-A555-DAC9-D08D-73A80FFBC53C}"/>
              </a:ext>
            </a:extLst>
          </p:cNvPr>
          <p:cNvSpPr/>
          <p:nvPr userDrawn="1"/>
        </p:nvSpPr>
        <p:spPr>
          <a:xfrm>
            <a:off x="8540137" y="318973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904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645" y="987552"/>
            <a:ext cx="5366480" cy="4044508"/>
          </a:xfrm>
        </p:spPr>
        <p:txBody>
          <a:bodyPr>
            <a:normAutofit/>
          </a:bodyPr>
          <a:lstStyle>
            <a:lvl1pPr>
              <a:defRPr sz="5600"/>
            </a:lvl1pPr>
          </a:lstStyle>
          <a:p>
            <a:r>
              <a:rPr lang="en-US" dirty="0"/>
              <a:t>Click to edit Master title style</a:t>
            </a:r>
          </a:p>
        </p:txBody>
      </p:sp>
      <p:sp>
        <p:nvSpPr>
          <p:cNvPr id="4" name="Footer Placeholder 4">
            <a:extLst>
              <a:ext uri="{FF2B5EF4-FFF2-40B4-BE49-F238E27FC236}">
                <a16:creationId xmlns:a16="http://schemas.microsoft.com/office/drawing/2014/main" id="{4F0A24D4-6DA5-79FF-03B8-B42156C29A10}"/>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3" name="Date Placeholder 3">
            <a:extLst>
              <a:ext uri="{FF2B5EF4-FFF2-40B4-BE49-F238E27FC236}">
                <a16:creationId xmlns:a16="http://schemas.microsoft.com/office/drawing/2014/main" id="{95496777-32C7-B10A-B939-8EEC9C873F21}"/>
              </a:ext>
            </a:extLst>
          </p:cNvPr>
          <p:cNvSpPr>
            <a:spLocks noGrp="1"/>
          </p:cNvSpPr>
          <p:nvPr>
            <p:ph type="dt" sz="half" idx="10"/>
          </p:nvPr>
        </p:nvSpPr>
        <p:spPr>
          <a:xfrm>
            <a:off x="6190488" y="100701"/>
            <a:ext cx="2940449" cy="365125"/>
          </a:xfrm>
        </p:spPr>
        <p:txBody>
          <a:bodyPr/>
          <a:lstStyle/>
          <a:p>
            <a:endParaRPr lang="en-US" dirty="0"/>
          </a:p>
        </p:txBody>
      </p:sp>
      <p:sp>
        <p:nvSpPr>
          <p:cNvPr id="6" name="Slide Number Placeholder 5">
            <a:extLst>
              <a:ext uri="{FF2B5EF4-FFF2-40B4-BE49-F238E27FC236}">
                <a16:creationId xmlns:a16="http://schemas.microsoft.com/office/drawing/2014/main" id="{D33C2CAA-FD7B-3168-42A9-81A6AA4BC761}"/>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190488" y="969264"/>
            <a:ext cx="5340096"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9580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dirty="0"/>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332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dirty="0"/>
              <a:t>Click to edit Master title style</a:t>
            </a:r>
          </a:p>
        </p:txBody>
      </p:sp>
      <p:sp>
        <p:nvSpPr>
          <p:cNvPr id="5" name="Footer Placeholder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4727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dirty="0"/>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2270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anchor="t"/>
          <a:lstStyle/>
          <a:p>
            <a:r>
              <a:rPr lang="en-US" dirty="0"/>
              <a:t>Click to edit Master title style</a:t>
            </a:r>
          </a:p>
        </p:txBody>
      </p:sp>
      <p:sp>
        <p:nvSpPr>
          <p:cNvPr id="5" name="Content Placeholder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dirty="0"/>
              <a:t> </a:t>
            </a:r>
          </a:p>
        </p:txBody>
      </p:sp>
      <p:sp>
        <p:nvSpPr>
          <p:cNvPr id="7" name="Footer Placeholder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anchor="b"/>
          <a:lstStyle/>
          <a:p>
            <a:r>
              <a:rPr lang="en-US" dirty="0"/>
              <a:t>Sample footer text</a:t>
            </a:r>
          </a:p>
        </p:txBody>
      </p:sp>
      <p:sp>
        <p:nvSpPr>
          <p:cNvPr id="14" name="Date Placeholder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anchor="b"/>
          <a:lstStyle/>
          <a:p>
            <a:endParaRPr lang="en-US" dirty="0"/>
          </a:p>
        </p:txBody>
      </p:sp>
      <p:sp>
        <p:nvSpPr>
          <p:cNvPr id="13" name="Slide Number Placeholder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1182458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dirty="0"/>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3268374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dirty="0"/>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dirty="0"/>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4063264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anchor="t" anchorCtr="0"/>
          <a:lstStyle/>
          <a:p>
            <a:r>
              <a:rPr lang="en-US" dirty="0"/>
              <a:t>Click to edit Master title style</a:t>
            </a:r>
          </a:p>
        </p:txBody>
      </p:sp>
      <p:sp>
        <p:nvSpPr>
          <p:cNvPr id="4" name="Picture Placeholder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anchor="b"/>
          <a:lstStyle/>
          <a:p>
            <a:r>
              <a:rPr lang="en-US" dirty="0"/>
              <a:t>Sample footer text</a:t>
            </a:r>
          </a:p>
        </p:txBody>
      </p:sp>
      <p:sp>
        <p:nvSpPr>
          <p:cNvPr id="3" name="Slide Number Placeholder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182486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dirty="0"/>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dirty="0"/>
              <a:t>Click to edit Master title style</a:t>
            </a:r>
          </a:p>
        </p:txBody>
      </p:sp>
      <p:sp>
        <p:nvSpPr>
          <p:cNvPr id="4" name="Picture Placeholder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anchor="b"/>
          <a:lstStyle/>
          <a:p>
            <a:r>
              <a:rPr lang="en-US" dirty="0"/>
              <a:t>Sample footer text</a:t>
            </a:r>
          </a:p>
        </p:txBody>
      </p:sp>
      <p:sp>
        <p:nvSpPr>
          <p:cNvPr id="6" name="Slide Number Placeholder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2266531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dirty="0"/>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dirty="0"/>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dirty="0"/>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dirty="0"/>
              <a:t>Click to edit Master title style</a:t>
            </a:r>
          </a:p>
        </p:txBody>
      </p:sp>
      <p:sp>
        <p:nvSpPr>
          <p:cNvPr id="3" name="Content Placeholder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dirty="0"/>
              <a:t> </a:t>
            </a:r>
          </a:p>
        </p:txBody>
      </p:sp>
      <p:sp>
        <p:nvSpPr>
          <p:cNvPr id="4" name="Footer Placeholder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1189132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dirty="0"/>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dirty="0"/>
              <a:t>Click to edit Master title style</a:t>
            </a:r>
          </a:p>
        </p:txBody>
      </p:sp>
      <p:sp>
        <p:nvSpPr>
          <p:cNvPr id="8" name="Footer Placeholder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a:lstStyle/>
          <a:p>
            <a:r>
              <a:rPr lang="en-US" dirty="0"/>
              <a:t>Sample footer text</a:t>
            </a:r>
          </a:p>
        </p:txBody>
      </p:sp>
      <p:sp>
        <p:nvSpPr>
          <p:cNvPr id="7" name="Date Placeholder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a:lstStyle/>
          <a:p>
            <a:endParaRPr lang="en-US" dirty="0"/>
          </a:p>
        </p:txBody>
      </p:sp>
      <p:sp>
        <p:nvSpPr>
          <p:cNvPr id="10" name="Slide Number Placeholder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‹Nr.›</a:t>
            </a:fld>
            <a:endParaRPr lang="en-US" dirty="0"/>
          </a:p>
        </p:txBody>
      </p:sp>
      <p:sp>
        <p:nvSpPr>
          <p:cNvPr id="9" name="Content Placeholder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149338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dirty="0"/>
          </a:p>
          <a:p>
            <a:endParaRPr lang="en-US" dirty="0"/>
          </a:p>
        </p:txBody>
      </p:sp>
      <p:sp>
        <p:nvSpPr>
          <p:cNvPr id="3" name="Footer Placeholder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anchor="b"/>
          <a:lstStyle/>
          <a:p>
            <a:r>
              <a:rPr lang="en-US" dirty="0"/>
              <a:t>Sample footer text</a:t>
            </a:r>
          </a:p>
        </p:txBody>
      </p:sp>
      <p:sp>
        <p:nvSpPr>
          <p:cNvPr id="10" name="Date Placeholder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anchor="b"/>
          <a:lstStyle/>
          <a:p>
            <a:endParaRPr lang="en-US" dirty="0"/>
          </a:p>
        </p:txBody>
      </p:sp>
      <p:sp>
        <p:nvSpPr>
          <p:cNvPr id="4" name="Slide Number Placeholder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98233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dirty="0"/>
              <a:t>Click to edit Master title style</a:t>
            </a:r>
          </a:p>
        </p:txBody>
      </p:sp>
      <p:sp>
        <p:nvSpPr>
          <p:cNvPr id="10" name="Content Placeholder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‹Nr.›</a:t>
            </a:fld>
            <a:endParaRPr lang="en-US" dirty="0"/>
          </a:p>
        </p:txBody>
      </p:sp>
      <p:sp>
        <p:nvSpPr>
          <p:cNvPr id="12" name="Picture Placeholder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7224019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dirty="0"/>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dirty="0"/>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4" y="621792"/>
            <a:ext cx="3528795" cy="1875965"/>
          </a:xfrm>
        </p:spPr>
        <p:txBody>
          <a:bodyPr anchor="t" anchorCtr="0">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49183" y="2890640"/>
            <a:ext cx="3424181" cy="334245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12351" y="603504"/>
            <a:ext cx="7215984" cy="5558959"/>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27B28364-BB1F-C92D-6EA6-E9AFEACC2D4A}"/>
              </a:ext>
            </a:extLst>
          </p:cNvPr>
          <p:cNvSpPr>
            <a:spLocks noGrp="1"/>
          </p:cNvSpPr>
          <p:nvPr>
            <p:ph type="ftr" sz="quarter" idx="16"/>
          </p:nvPr>
        </p:nvSpPr>
        <p:spPr>
          <a:xfrm>
            <a:off x="545926" y="6438284"/>
            <a:ext cx="5276852" cy="365125"/>
          </a:xfrm>
        </p:spPr>
        <p:txBody>
          <a:bodyPr anchor="b"/>
          <a:lstStyle/>
          <a:p>
            <a:r>
              <a:rPr lang="en-US" dirty="0"/>
              <a:t>Sample footer text</a:t>
            </a:r>
          </a:p>
        </p:txBody>
      </p:sp>
      <p:sp>
        <p:nvSpPr>
          <p:cNvPr id="6" name="Date Placeholder 5">
            <a:extLst>
              <a:ext uri="{FF2B5EF4-FFF2-40B4-BE49-F238E27FC236}">
                <a16:creationId xmlns:a16="http://schemas.microsoft.com/office/drawing/2014/main" id="{3E4B54CF-3562-5862-E6DB-CEF1F22146EA}"/>
              </a:ext>
            </a:extLst>
          </p:cNvPr>
          <p:cNvSpPr>
            <a:spLocks noGrp="1"/>
          </p:cNvSpPr>
          <p:nvPr>
            <p:ph type="dt" sz="half" idx="15"/>
          </p:nvPr>
        </p:nvSpPr>
        <p:spPr>
          <a:xfrm>
            <a:off x="6190488" y="6432496"/>
            <a:ext cx="2544079" cy="365125"/>
          </a:xfrm>
        </p:spPr>
        <p:txBody>
          <a:bodyPr anchor="b"/>
          <a:lstStyle/>
          <a:p>
            <a:endParaRPr lang="en-US" dirty="0"/>
          </a:p>
        </p:txBody>
      </p:sp>
      <p:sp>
        <p:nvSpPr>
          <p:cNvPr id="9" name="Slide Number Placeholder 8">
            <a:extLst>
              <a:ext uri="{FF2B5EF4-FFF2-40B4-BE49-F238E27FC236}">
                <a16:creationId xmlns:a16="http://schemas.microsoft.com/office/drawing/2014/main" id="{BB780F23-567A-D56A-4657-9FE5DB9F1C69}"/>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2787477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dirty="0"/>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dirty="0"/>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1672768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anchor="b"/>
          <a:lstStyle/>
          <a:p>
            <a:endParaRPr lang="en-US" dirty="0"/>
          </a:p>
        </p:txBody>
      </p:sp>
      <p:sp>
        <p:nvSpPr>
          <p:cNvPr id="5" name="Slide Number Placeholder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‹Nr.›</a:t>
            </a:fld>
            <a:endParaRPr lang="en-US" dirty="0"/>
          </a:p>
        </p:txBody>
      </p:sp>
      <p:sp>
        <p:nvSpPr>
          <p:cNvPr id="7" name="Picture Placeholder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‹Nr.›</a:t>
            </a:fld>
            <a:endParaRPr lang="en-US" dirty="0"/>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dirty="0"/>
          </a:p>
        </p:txBody>
      </p:sp>
    </p:spTree>
    <p:extLst>
      <p:ext uri="{BB962C8B-B14F-4D97-AF65-F5344CB8AC3E}">
        <p14:creationId xmlns:p14="http://schemas.microsoft.com/office/powerpoint/2010/main" val="362479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 y="1005840"/>
            <a:ext cx="3595634" cy="2212313"/>
          </a:xfrm>
        </p:spPr>
        <p:txBody>
          <a:bodyPr anchor="t">
            <a:noAutofit/>
          </a:bodyPr>
          <a:lstStyle>
            <a:lvl1pPr>
              <a:defRPr sz="5600"/>
            </a:lvl1pPr>
          </a:lstStyle>
          <a:p>
            <a:r>
              <a:rPr lang="en-US" dirty="0"/>
              <a:t>Click to edit Master title style</a:t>
            </a:r>
          </a:p>
        </p:txBody>
      </p:sp>
      <p:sp>
        <p:nvSpPr>
          <p:cNvPr id="9" name="Footer Placeholder 4">
            <a:extLst>
              <a:ext uri="{FF2B5EF4-FFF2-40B4-BE49-F238E27FC236}">
                <a16:creationId xmlns:a16="http://schemas.microsoft.com/office/drawing/2014/main" id="{69E2A0A4-E744-4E9C-CEAD-DBA5E98D44E8}"/>
              </a:ext>
            </a:extLst>
          </p:cNvPr>
          <p:cNvSpPr>
            <a:spLocks noGrp="1"/>
          </p:cNvSpPr>
          <p:nvPr>
            <p:ph type="ftr" sz="quarter" idx="11"/>
          </p:nvPr>
        </p:nvSpPr>
        <p:spPr>
          <a:xfrm>
            <a:off x="0" y="100701"/>
            <a:ext cx="4972050" cy="365125"/>
          </a:xfrm>
        </p:spPr>
        <p:txBody>
          <a:bodyPr/>
          <a:lstStyle/>
          <a:p>
            <a:r>
              <a:rPr lang="en-US" dirty="0"/>
              <a:t>Sample footer text</a:t>
            </a:r>
          </a:p>
        </p:txBody>
      </p:sp>
      <p:sp>
        <p:nvSpPr>
          <p:cNvPr id="8" name="Date Placeholder 3">
            <a:extLst>
              <a:ext uri="{FF2B5EF4-FFF2-40B4-BE49-F238E27FC236}">
                <a16:creationId xmlns:a16="http://schemas.microsoft.com/office/drawing/2014/main" id="{D44A2045-E098-ECF5-2867-D41D939BA049}"/>
              </a:ext>
            </a:extLst>
          </p:cNvPr>
          <p:cNvSpPr>
            <a:spLocks noGrp="1"/>
          </p:cNvSpPr>
          <p:nvPr>
            <p:ph type="dt" sz="half" idx="10"/>
          </p:nvPr>
        </p:nvSpPr>
        <p:spPr>
          <a:xfrm>
            <a:off x="5258952"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id="{07F69DDF-E931-1763-53C0-B18D6D4EC1E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0" y="3402064"/>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66157" y="832104"/>
            <a:ext cx="6707160" cy="5917042"/>
          </a:xfrm>
          <a:blipFill>
            <a:blip r:embed="rId2">
              <a:alphaModFix amt="7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3510537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1109185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pic>
        <p:nvPicPr>
          <p:cNvPr id="6" name="Graphic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id="{9177888A-355A-DE7F-B87A-D018FC9564C3}"/>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E2B4EDBB-F789-35E1-3512-3A3E647C2B42}"/>
              </a:ext>
            </a:extLst>
          </p:cNvPr>
          <p:cNvSpPr>
            <a:spLocks noGrp="1"/>
          </p:cNvSpPr>
          <p:nvPr>
            <p:ph type="dt" sz="half" idx="14"/>
          </p:nvPr>
        </p:nvSpPr>
        <p:spPr/>
        <p:txBody>
          <a:bodyPr/>
          <a:lstStyle/>
          <a:p>
            <a:endParaRPr lang="en-US" dirty="0"/>
          </a:p>
        </p:txBody>
      </p:sp>
      <p:sp>
        <p:nvSpPr>
          <p:cNvPr id="10" name="Slide Number Placeholder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5" name="Content Placeholder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2" name="Date Placeholder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a:lstStyle/>
          <a:p>
            <a:endParaRPr lang="en-US" dirty="0"/>
          </a:p>
        </p:txBody>
      </p:sp>
      <p:sp>
        <p:nvSpPr>
          <p:cNvPr id="5" name="Slide Number Placeholder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dirty="0"/>
              <a:t>Click to edit Master title style</a:t>
            </a:r>
          </a:p>
        </p:txBody>
      </p:sp>
      <p:sp>
        <p:nvSpPr>
          <p:cNvPr id="8" name="Date Placeholder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a:lstStyle/>
          <a:p>
            <a:endParaRPr lang="en-US" dirty="0"/>
          </a:p>
        </p:txBody>
      </p:sp>
      <p:sp>
        <p:nvSpPr>
          <p:cNvPr id="9" name="Content Placeholder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dirty="0"/>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dirty="0"/>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a:lstStyle/>
          <a:p>
            <a:r>
              <a:rPr lang="en-US" dirty="0"/>
              <a:t>Click to edit Master title style</a:t>
            </a:r>
          </a:p>
        </p:txBody>
      </p:sp>
      <p:sp>
        <p:nvSpPr>
          <p:cNvPr id="5" name="Content Placeholder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‹Nr.›</a:t>
            </a:fld>
            <a:endParaRPr lang="en-US" dirty="0"/>
          </a:p>
        </p:txBody>
      </p:sp>
      <p:sp>
        <p:nvSpPr>
          <p:cNvPr id="10" name="Oval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anchor="b"/>
          <a:lstStyle/>
          <a:p>
            <a:endParaRPr lang="en-US" dirty="0"/>
          </a:p>
        </p:txBody>
      </p:sp>
    </p:spTree>
    <p:extLst>
      <p:ext uri="{BB962C8B-B14F-4D97-AF65-F5344CB8AC3E}">
        <p14:creationId xmlns:p14="http://schemas.microsoft.com/office/powerpoint/2010/main" val="17596521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a:lstStyle/>
          <a:p>
            <a:r>
              <a:rPr lang="en-US" dirty="0"/>
              <a:t>Click to edit Master title style</a:t>
            </a:r>
          </a:p>
        </p:txBody>
      </p:sp>
      <p:pic>
        <p:nvPicPr>
          <p:cNvPr id="4" name="Graphic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3" name="Date Placeholder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
        <p:nvSpPr>
          <p:cNvPr id="8" name="Content Placeholder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‹Nr.›</a:t>
            </a:fld>
            <a:endParaRPr lang="en-US" dirty="0"/>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dirty="0"/>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8" name="Content Placeholder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12" name="Footer Placeholder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a:lstStyle/>
          <a:p>
            <a:r>
              <a:rPr lang="en-US" dirty="0"/>
              <a:t>Sample footer text</a:t>
            </a:r>
          </a:p>
        </p:txBody>
      </p:sp>
      <p:sp>
        <p:nvSpPr>
          <p:cNvPr id="7" name="Date Placeholder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anchor="b"/>
          <a:lstStyle/>
          <a:p>
            <a:endParaRPr lang="en-US" dirty="0"/>
          </a:p>
        </p:txBody>
      </p:sp>
      <p:sp>
        <p:nvSpPr>
          <p:cNvPr id="13" name="Slide Number Placeholder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2" name="Date Placeholder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anchor="b"/>
          <a:lstStyle/>
          <a:p>
            <a:endParaRPr lang="en-US" dirty="0"/>
          </a:p>
        </p:txBody>
      </p:sp>
      <p:sp>
        <p:nvSpPr>
          <p:cNvPr id="9" name="Slide Number Placeholder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‹Nr.›</a:t>
            </a:fld>
            <a:endParaRPr lang="en-US" dirty="0"/>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0" y="5400504"/>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288" y="91440"/>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dirty="0"/>
              <a:t>Click to add Quote</a:t>
            </a:r>
          </a:p>
        </p:txBody>
      </p:sp>
      <p:sp>
        <p:nvSpPr>
          <p:cNvPr id="8" name="Slide Number Placeholder 5">
            <a:extLst>
              <a:ext uri="{FF2B5EF4-FFF2-40B4-BE49-F238E27FC236}">
                <a16:creationId xmlns:a16="http://schemas.microsoft.com/office/drawing/2014/main" id="{3C6CA867-0594-FF63-2A8A-31E617CF8B81}"/>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669100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dirty="0"/>
              <a:t>Quote Author</a:t>
            </a:r>
          </a:p>
        </p:txBody>
      </p:sp>
      <p:pic>
        <p:nvPicPr>
          <p:cNvPr id="3" name="Graphic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5" name="Footer Placeholder 4">
            <a:extLst>
              <a:ext uri="{FF2B5EF4-FFF2-40B4-BE49-F238E27FC236}">
                <a16:creationId xmlns:a16="http://schemas.microsoft.com/office/drawing/2014/main" id="{3E1BFC28-1FE6-202E-4C75-F59AA5769128}"/>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45652F0F-1439-960F-9C3A-9343AACF5CF7}"/>
              </a:ext>
            </a:extLst>
          </p:cNvPr>
          <p:cNvSpPr>
            <a:spLocks noGrp="1"/>
          </p:cNvSpPr>
          <p:nvPr>
            <p:ph type="dt" sz="half" idx="10"/>
          </p:nvPr>
        </p:nvSpPr>
        <p:spPr>
          <a:xfrm>
            <a:off x="6217920" y="100701"/>
            <a:ext cx="5332001" cy="365125"/>
          </a:xfrm>
        </p:spPr>
        <p:txBody>
          <a:bodyPr/>
          <a:lstStyle/>
          <a:p>
            <a:endParaRPr lang="en-US" dirty="0"/>
          </a:p>
        </p:txBody>
      </p:sp>
      <p:sp>
        <p:nvSpPr>
          <p:cNvPr id="6" name="Slide Number Placeholder 5">
            <a:extLst>
              <a:ext uri="{FF2B5EF4-FFF2-40B4-BE49-F238E27FC236}">
                <a16:creationId xmlns:a16="http://schemas.microsoft.com/office/drawing/2014/main" id="{25272698-4711-8849-0363-3DFE78138D32}"/>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15308935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dirty="0"/>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29378500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0" y="1005840"/>
            <a:ext cx="4387515" cy="2266749"/>
          </a:xfrm>
        </p:spPr>
        <p:txBody>
          <a:bodyPr anchor="t">
            <a:noAutofit/>
          </a:bodyPr>
          <a:lstStyle>
            <a:lvl1pPr>
              <a:defRPr sz="5600"/>
            </a:lvl1pPr>
          </a:lstStyle>
          <a:p>
            <a:r>
              <a:rPr lang="en-US" dirty="0"/>
              <a:t>Click to edit Master title style</a:t>
            </a:r>
          </a:p>
        </p:txBody>
      </p:sp>
      <p:sp>
        <p:nvSpPr>
          <p:cNvPr id="9" name="Footer Placeholder 4">
            <a:extLst>
              <a:ext uri="{FF2B5EF4-FFF2-40B4-BE49-F238E27FC236}">
                <a16:creationId xmlns:a16="http://schemas.microsoft.com/office/drawing/2014/main" id="{3BF49C86-6C0C-1FF8-95FA-97DFDF9DAFB3}"/>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8" name="Date Placeholder 3">
            <a:extLst>
              <a:ext uri="{FF2B5EF4-FFF2-40B4-BE49-F238E27FC236}">
                <a16:creationId xmlns:a16="http://schemas.microsoft.com/office/drawing/2014/main" id="{967C0644-E9CA-553A-9682-88BC00D2C9A7}"/>
              </a:ext>
            </a:extLst>
          </p:cNvPr>
          <p:cNvSpPr>
            <a:spLocks noGrp="1"/>
          </p:cNvSpPr>
          <p:nvPr>
            <p:ph type="dt" sz="half" idx="10"/>
          </p:nvPr>
        </p:nvSpPr>
        <p:spPr>
          <a:xfrm>
            <a:off x="6217920"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id="{671DEEC6-473A-E958-E22B-4390511AE15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‹Nr.›</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 y="3951334"/>
            <a:ext cx="4387515" cy="2809615"/>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84821" y="1005840"/>
            <a:ext cx="7217472"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56749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dirty="0"/>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dirty="0"/>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dirty="0"/>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411494558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dirty="0"/>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dirty="0"/>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‹Nr.›</a:t>
            </a:fld>
            <a:endParaRPr lang="en-US" dirty="0"/>
          </a:p>
        </p:txBody>
      </p:sp>
      <p:sp>
        <p:nvSpPr>
          <p:cNvPr id="3" name="Oval 2">
            <a:extLst>
              <a:ext uri="{FF2B5EF4-FFF2-40B4-BE49-F238E27FC236}">
                <a16:creationId xmlns:a16="http://schemas.microsoft.com/office/drawing/2014/main" id="{D3CF16D9-01F3-6CE6-7291-C344E099BBD0}"/>
              </a:ext>
            </a:extLst>
          </p:cNvPr>
          <p:cNvSpPr/>
          <p:nvPr userDrawn="1"/>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422037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‹Nr.›</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852" r:id="rId1"/>
    <p:sldLayoutId id="2147483851" r:id="rId2"/>
    <p:sldLayoutId id="2147483784" r:id="rId3"/>
    <p:sldLayoutId id="2147483785" r:id="rId4"/>
    <p:sldLayoutId id="2147483831" r:id="rId5"/>
    <p:sldLayoutId id="2147483783" r:id="rId6"/>
    <p:sldLayoutId id="2147483786" r:id="rId7"/>
    <p:sldLayoutId id="2147483787" r:id="rId8"/>
    <p:sldLayoutId id="2147483788" r:id="rId9"/>
    <p:sldLayoutId id="2147483789" r:id="rId10"/>
    <p:sldLayoutId id="2147483853" r:id="rId11"/>
    <p:sldLayoutId id="2147483858" r:id="rId12"/>
    <p:sldLayoutId id="2147483790" r:id="rId13"/>
    <p:sldLayoutId id="2147483838" r:id="rId14"/>
    <p:sldLayoutId id="2147483791" r:id="rId15"/>
    <p:sldLayoutId id="2147483839"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8" r:id="rId32"/>
    <p:sldLayoutId id="2147483809" r:id="rId33"/>
    <p:sldLayoutId id="2147483810" r:id="rId34"/>
    <p:sldLayoutId id="2147483811" r:id="rId35"/>
    <p:sldLayoutId id="2147483812" r:id="rId36"/>
    <p:sldLayoutId id="2147483813" r:id="rId37"/>
    <p:sldLayoutId id="2147483855" r:id="rId38"/>
    <p:sldLayoutId id="2147483841" r:id="rId39"/>
    <p:sldLayoutId id="2147483842" r:id="rId40"/>
    <p:sldLayoutId id="2147483828" r:id="rId41"/>
    <p:sldLayoutId id="2147483814" r:id="rId42"/>
    <p:sldLayoutId id="2147483815" r:id="rId43"/>
    <p:sldLayoutId id="2147483816" r:id="rId44"/>
    <p:sldLayoutId id="2147483844" r:id="rId45"/>
    <p:sldLayoutId id="2147483817" r:id="rId46"/>
    <p:sldLayoutId id="2147483818" r:id="rId47"/>
    <p:sldLayoutId id="2147483819" r:id="rId48"/>
    <p:sldLayoutId id="2147483820" r:id="rId49"/>
    <p:sldLayoutId id="2147483821" r:id="rId50"/>
    <p:sldLayoutId id="2147483822" r:id="rId51"/>
    <p:sldLayoutId id="2147483847" r:id="rId52"/>
    <p:sldLayoutId id="2147483848" r:id="rId53"/>
    <p:sldLayoutId id="2147483825" r:id="rId54"/>
    <p:sldLayoutId id="2147483826" r:id="rId55"/>
    <p:sldLayoutId id="2147483827" r:id="rId56"/>
    <p:sldLayoutId id="2147483850" r:id="rId57"/>
    <p:sldLayoutId id="2147483829" r:id="rId58"/>
    <p:sldLayoutId id="2147483830" r:id="rId59"/>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131DBC1-8E30-E991-C995-C10745B4C02C}"/>
              </a:ext>
            </a:extLst>
          </p:cNvPr>
          <p:cNvSpPr>
            <a:spLocks noGrp="1"/>
          </p:cNvSpPr>
          <p:nvPr>
            <p:ph type="subTitle" idx="1"/>
          </p:nvPr>
        </p:nvSpPr>
        <p:spPr>
          <a:xfrm>
            <a:off x="0" y="4939257"/>
            <a:ext cx="5898630" cy="480373"/>
          </a:xfrm>
        </p:spPr>
        <p:txBody>
          <a:bodyPr anchor="t">
            <a:normAutofit/>
          </a:bodyPr>
          <a:lstStyle/>
          <a:p>
            <a:r>
              <a:rPr lang="en-US"/>
              <a:t>Automated systems for efficient problem resolution</a:t>
            </a:r>
          </a:p>
        </p:txBody>
      </p:sp>
      <p:pic>
        <p:nvPicPr>
          <p:cNvPr id="5" name="Picture Placeholder 4" descr="Biomedical engineering robot in a lab">
            <a:extLst>
              <a:ext uri="{FF2B5EF4-FFF2-40B4-BE49-F238E27FC236}">
                <a16:creationId xmlns:a16="http://schemas.microsoft.com/office/drawing/2014/main" id="{2C859FB6-ACDE-4815-BC43-E113FFCDDD9B}"/>
              </a:ext>
            </a:extLst>
          </p:cNvPr>
          <p:cNvPicPr>
            <a:picLocks noGrp="1" noChangeAspect="1"/>
          </p:cNvPicPr>
          <p:nvPr>
            <p:ph type="pic" sz="quarter" idx="13"/>
          </p:nvPr>
        </p:nvPicPr>
        <p:blipFill>
          <a:blip r:embed="rId3"/>
          <a:srcRect t="24981" b="16234"/>
          <a:stretch>
            <a:fillRect/>
          </a:stretch>
        </p:blipFill>
        <p:spPr>
          <a:xfrm>
            <a:off x="20" y="-1"/>
            <a:ext cx="12191980" cy="4784036"/>
          </a:xfrm>
          <a:blipFill>
            <a:blip r:embed="rId4">
              <a:alphaModFix amt="70000"/>
            </a:blip>
            <a:stretch>
              <a:fillRect/>
            </a:stretch>
          </a:blipFill>
        </p:spPr>
      </p:pic>
      <p:sp>
        <p:nvSpPr>
          <p:cNvPr id="4" name="Title 3">
            <a:extLst>
              <a:ext uri="{FF2B5EF4-FFF2-40B4-BE49-F238E27FC236}">
                <a16:creationId xmlns:a16="http://schemas.microsoft.com/office/drawing/2014/main" id="{A836E27D-EB85-DF88-6F69-6EC571D32453}"/>
              </a:ext>
            </a:extLst>
          </p:cNvPr>
          <p:cNvSpPr>
            <a:spLocks noGrp="1"/>
          </p:cNvSpPr>
          <p:nvPr>
            <p:ph type="title"/>
          </p:nvPr>
        </p:nvSpPr>
        <p:spPr>
          <a:xfrm>
            <a:off x="-19847" y="5718869"/>
            <a:ext cx="5916168" cy="1143000"/>
          </a:xfrm>
        </p:spPr>
        <p:txBody>
          <a:bodyPr anchor="b">
            <a:normAutofit/>
          </a:bodyPr>
          <a:lstStyle/>
          <a:p>
            <a:r>
              <a:rPr lang="en-US" sz="4800"/>
              <a:t>Autonomous Remediation Pipeline</a:t>
            </a:r>
          </a:p>
        </p:txBody>
      </p:sp>
    </p:spTree>
    <p:extLst>
      <p:ext uri="{BB962C8B-B14F-4D97-AF65-F5344CB8AC3E}">
        <p14:creationId xmlns:p14="http://schemas.microsoft.com/office/powerpoint/2010/main" val="260489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00"/>
                                        <p:tgtEl>
                                          <p:spTgt spid="2">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404403-BA43-4833-F438-F5685C519E0C}"/>
              </a:ext>
            </a:extLst>
          </p:cNvPr>
          <p:cNvSpPr>
            <a:spLocks noGrp="1"/>
          </p:cNvSpPr>
          <p:nvPr>
            <p:ph type="title"/>
          </p:nvPr>
        </p:nvSpPr>
        <p:spPr>
          <a:xfrm>
            <a:off x="-18288" y="2184032"/>
            <a:ext cx="8074152" cy="4718304"/>
          </a:xfrm>
        </p:spPr>
        <p:txBody>
          <a:bodyPr anchor="b">
            <a:normAutofit/>
          </a:bodyPr>
          <a:lstStyle/>
          <a:p>
            <a:r>
              <a:rPr lang="en-US"/>
              <a:t>Autonomous Remediation Pipeline</a:t>
            </a:r>
          </a:p>
        </p:txBody>
      </p:sp>
    </p:spTree>
    <p:extLst>
      <p:ext uri="{BB962C8B-B14F-4D97-AF65-F5344CB8AC3E}">
        <p14:creationId xmlns:p14="http://schemas.microsoft.com/office/powerpoint/2010/main" val="294727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E3F4E-DF51-5AE4-B293-C2CE0C434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6823A-5346-85B0-750C-7AF32AC3E9EB}"/>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4800" b="0" i="0" kern="1200" spc="-200" baseline="0" dirty="0">
                <a:latin typeface="+mj-lt"/>
                <a:ea typeface="+mj-ea"/>
                <a:cs typeface="+mj-cs"/>
              </a:rPr>
              <a:t>Problem Statement</a:t>
            </a:r>
          </a:p>
        </p:txBody>
      </p:sp>
      <p:sp>
        <p:nvSpPr>
          <p:cNvPr id="5" name="TextBox 4">
            <a:extLst>
              <a:ext uri="{FF2B5EF4-FFF2-40B4-BE49-F238E27FC236}">
                <a16:creationId xmlns:a16="http://schemas.microsoft.com/office/drawing/2014/main" id="{B74EA2B9-CF26-7707-4ABE-54BDF17D84A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Autofit/>
          </a:bodyPr>
          <a:lstStyle/>
          <a:p>
            <a:r>
              <a:rPr lang="en-US" sz="1400" dirty="0"/>
              <a:t>Modern AIOps solutions promise autonomous operations and faster incident resolution.</a:t>
            </a:r>
            <a:br>
              <a:rPr lang="en-US" sz="1400" dirty="0"/>
            </a:br>
            <a:endParaRPr lang="en-US" sz="1400" dirty="0"/>
          </a:p>
          <a:p>
            <a:r>
              <a:rPr lang="en-US" sz="1400" dirty="0"/>
              <a:t>However, many implementations introduce </a:t>
            </a:r>
            <a:r>
              <a:rPr lang="en-US" sz="1400" b="1" dirty="0"/>
              <a:t>black-box automation</a:t>
            </a:r>
            <a:r>
              <a:rPr lang="en-US" sz="1400" dirty="0"/>
              <a:t>, limited transparency, and reduced operational sovereignty.</a:t>
            </a:r>
          </a:p>
          <a:p>
            <a:endParaRPr lang="en-US" sz="1400" dirty="0"/>
          </a:p>
          <a:p>
            <a:r>
              <a:rPr lang="en-US" sz="1400" dirty="0"/>
              <a:t>Infrastructure changes triggered directly by AI systems can bypass established engineering workflows, making them </a:t>
            </a:r>
            <a:r>
              <a:rPr lang="en-US" sz="1400" b="1" dirty="0"/>
              <a:t>hard to validate, difficult to audit, and risky in regulated environments</a:t>
            </a:r>
            <a:r>
              <a:rPr lang="en-US" sz="1400" dirty="0"/>
              <a:t>.</a:t>
            </a:r>
          </a:p>
          <a:p>
            <a:endParaRPr lang="en-US" sz="1400" dirty="0"/>
          </a:p>
          <a:p>
            <a:r>
              <a:rPr lang="en-US" sz="1400" dirty="0"/>
              <a:t>Organizations therefore face a dilemma:</a:t>
            </a:r>
            <a:br>
              <a:rPr lang="en-US" sz="1400" dirty="0"/>
            </a:br>
            <a:endParaRPr lang="en-US" sz="1400" dirty="0"/>
          </a:p>
          <a:p>
            <a:r>
              <a:rPr lang="en-US" sz="1400" dirty="0"/>
              <a:t>They want the benefits of AI-driven operations, but must still ensure </a:t>
            </a:r>
            <a:r>
              <a:rPr lang="en-US" sz="1400" b="1" dirty="0"/>
              <a:t>governance, compliance, vendor independence, and deterministic platform behavior</a:t>
            </a:r>
            <a:r>
              <a:rPr lang="en-US" sz="1400" dirty="0"/>
              <a:t>.</a:t>
            </a:r>
          </a:p>
          <a:p>
            <a:endParaRPr lang="en-US" sz="1400" dirty="0"/>
          </a:p>
          <a:p>
            <a:r>
              <a:rPr lang="en-US" sz="1400" dirty="0"/>
              <a:t>A new operating model is required — one that combines </a:t>
            </a:r>
            <a:r>
              <a:rPr lang="en-US" sz="1400" b="1" dirty="0"/>
              <a:t>AI-driven intelligence with controlled, auditable execution.</a:t>
            </a:r>
            <a:endParaRPr lang="en-US" sz="1400" dirty="0"/>
          </a:p>
        </p:txBody>
      </p:sp>
      <p:pic>
        <p:nvPicPr>
          <p:cNvPr id="4" name="Content Placeholder 3"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33822FE6-0A38-207C-45AA-4AFDFDF9F97A}"/>
              </a:ext>
            </a:extLst>
          </p:cNvPr>
          <p:cNvPicPr>
            <a:picLocks noGrp="1" noChangeAspect="1"/>
          </p:cNvPicPr>
          <p:nvPr>
            <p:ph type="pic" sz="quarter" idx="13"/>
          </p:nvPr>
        </p:nvPicPr>
        <p:blipFill>
          <a:blip r:embed="rId3"/>
          <a:srcRect l="34281" r="21719"/>
          <a:stretch>
            <a:fillRect/>
          </a:stretch>
        </p:blipFill>
        <p:spPr>
          <a:xfrm>
            <a:off x="8168640" y="1"/>
            <a:ext cx="4023360" cy="6858000"/>
          </a:xfrm>
        </p:spPr>
      </p:pic>
    </p:spTree>
    <p:extLst>
      <p:ext uri="{BB962C8B-B14F-4D97-AF65-F5344CB8AC3E}">
        <p14:creationId xmlns:p14="http://schemas.microsoft.com/office/powerpoint/2010/main" val="51835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035A-828B-A824-E196-FCDA4D864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93B58-9C7D-7430-47FE-7CB9D48F2C8C}"/>
              </a:ext>
            </a:extLst>
          </p:cNvPr>
          <p:cNvSpPr>
            <a:spLocks noGrp="1"/>
          </p:cNvSpPr>
          <p:nvPr>
            <p:ph type="title"/>
          </p:nvPr>
        </p:nvSpPr>
        <p:spPr>
          <a:xfrm>
            <a:off x="542307" y="649293"/>
            <a:ext cx="7252710" cy="1138769"/>
          </a:xfrm>
        </p:spPr>
        <p:txBody>
          <a:bodyPr vert="horz" lIns="91440" tIns="45720" rIns="91440" bIns="45720" rtlCol="0" anchor="t">
            <a:noAutofit/>
          </a:bodyPr>
          <a:lstStyle/>
          <a:p>
            <a:r>
              <a:rPr lang="en-US" sz="4800" dirty="0"/>
              <a:t>High-Level Operating Model</a:t>
            </a:r>
            <a:endParaRPr lang="en-US" sz="4800" i="0" kern="1200" spc="-200" baseline="0" dirty="0">
              <a:latin typeface="+mj-lt"/>
              <a:ea typeface="+mj-ea"/>
              <a:cs typeface="+mj-cs"/>
            </a:endParaRPr>
          </a:p>
        </p:txBody>
      </p:sp>
      <p:sp>
        <p:nvSpPr>
          <p:cNvPr id="5" name="TextBox 4">
            <a:extLst>
              <a:ext uri="{FF2B5EF4-FFF2-40B4-BE49-F238E27FC236}">
                <a16:creationId xmlns:a16="http://schemas.microsoft.com/office/drawing/2014/main" id="{40511588-8B29-2C92-1E7C-6DF28D176B8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Autofit/>
          </a:bodyPr>
          <a:lstStyle/>
          <a:p>
            <a:r>
              <a:rPr lang="en-US" sz="1400" b="1" dirty="0" err="1"/>
              <a:t>GitOps</a:t>
            </a:r>
            <a:r>
              <a:rPr lang="en-US" sz="1400" b="1" dirty="0"/>
              <a:t> as the Execution Backbone</a:t>
            </a:r>
          </a:p>
          <a:p>
            <a:endParaRPr lang="en-US" sz="1400" dirty="0"/>
          </a:p>
          <a:p>
            <a:r>
              <a:rPr lang="en-US" sz="1400" dirty="0" err="1"/>
              <a:t>GitOps</a:t>
            </a:r>
            <a:r>
              <a:rPr lang="en-US" sz="1400" dirty="0"/>
              <a:t> is an operating model where </a:t>
            </a:r>
            <a:r>
              <a:rPr lang="en-US" sz="1400" b="1" dirty="0"/>
              <a:t>all platform and infrastructure changes are defined, reviewed, and versioned in Git</a:t>
            </a:r>
            <a:r>
              <a:rPr lang="en-US" sz="1400" dirty="0"/>
              <a:t> before they are applied to runtime environments.</a:t>
            </a:r>
          </a:p>
          <a:p>
            <a:endParaRPr lang="en-US" sz="1400" dirty="0"/>
          </a:p>
          <a:p>
            <a:r>
              <a:rPr lang="en-US" sz="1400" dirty="0"/>
              <a:t>Instead of manual interventions or direct automation, </a:t>
            </a:r>
            <a:r>
              <a:rPr lang="en-US" sz="1400" b="1" dirty="0"/>
              <a:t>a reconciliation engine continuously ensures that the actual system state matches the desired state stored in Git.</a:t>
            </a:r>
            <a:endParaRPr lang="en-US" sz="1400" dirty="0"/>
          </a:p>
          <a:p>
            <a:endParaRPr lang="en-US" sz="1400" dirty="0"/>
          </a:p>
          <a:p>
            <a:r>
              <a:rPr lang="en-US" sz="1400" dirty="0"/>
              <a:t>This creates a </a:t>
            </a:r>
            <a:r>
              <a:rPr lang="en-US" sz="1400" b="1" dirty="0"/>
              <a:t>deterministic and fully auditable change process</a:t>
            </a:r>
            <a:r>
              <a:rPr lang="en-US" sz="1400" dirty="0"/>
              <a:t>, enabling safe automation, rollback capability, and clear ownership of operational decisions.</a:t>
            </a:r>
          </a:p>
          <a:p>
            <a:endParaRPr lang="en-US" sz="1400" dirty="0"/>
          </a:p>
          <a:p>
            <a:r>
              <a:rPr lang="en-US" sz="1400" dirty="0"/>
              <a:t>By positioning </a:t>
            </a:r>
            <a:r>
              <a:rPr lang="en-US" sz="1400" dirty="0" err="1"/>
              <a:t>GitOps</a:t>
            </a:r>
            <a:r>
              <a:rPr lang="en-US" sz="1400" dirty="0"/>
              <a:t> as the execution backbone, AI-driven insights can be translated into </a:t>
            </a:r>
            <a:r>
              <a:rPr lang="en-US" sz="1400" b="1" dirty="0"/>
              <a:t>controlled change proposals rather than uncontrolled system actions</a:t>
            </a:r>
            <a:r>
              <a:rPr lang="en-US" sz="1400" dirty="0"/>
              <a:t>, ensuring transparency, governance, and operational sovereignty.</a:t>
            </a:r>
          </a:p>
        </p:txBody>
      </p:sp>
      <p:pic>
        <p:nvPicPr>
          <p:cNvPr id="4" name="Content Placeholder 3"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CF99DC09-390F-1463-909B-7CDFD8752E5B}"/>
              </a:ext>
            </a:extLst>
          </p:cNvPr>
          <p:cNvPicPr>
            <a:picLocks noGrp="1" noChangeAspect="1"/>
          </p:cNvPicPr>
          <p:nvPr>
            <p:ph type="pic" sz="quarter" idx="13"/>
          </p:nvPr>
        </p:nvPicPr>
        <p:blipFill>
          <a:blip r:embed="rId3"/>
          <a:srcRect l="34281" r="21719"/>
          <a:stretch>
            <a:fillRect/>
          </a:stretch>
        </p:blipFill>
        <p:spPr>
          <a:xfrm>
            <a:off x="8168640" y="1"/>
            <a:ext cx="4023360" cy="6858000"/>
          </a:xfrm>
        </p:spPr>
      </p:pic>
    </p:spTree>
    <p:extLst>
      <p:ext uri="{BB962C8B-B14F-4D97-AF65-F5344CB8AC3E}">
        <p14:creationId xmlns:p14="http://schemas.microsoft.com/office/powerpoint/2010/main" val="172006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A448D-7E69-4523-10F4-157D2E8CC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3285-1BD9-25AF-D429-320400A50F0D}"/>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4800" b="0" i="0" kern="1200" spc="-200" baseline="0">
                <a:latin typeface="+mj-lt"/>
                <a:ea typeface="+mj-ea"/>
                <a:cs typeface="+mj-cs"/>
              </a:rPr>
              <a:t>End-to-End Flow Overview</a:t>
            </a:r>
          </a:p>
        </p:txBody>
      </p:sp>
      <p:sp>
        <p:nvSpPr>
          <p:cNvPr id="5" name="TextBox 4">
            <a:extLst>
              <a:ext uri="{FF2B5EF4-FFF2-40B4-BE49-F238E27FC236}">
                <a16:creationId xmlns:a16="http://schemas.microsoft.com/office/drawing/2014/main" id="{02884400-1A5D-3DBF-1354-E9171868A6E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r>
              <a:rPr lang="en-US" sz="1200" b="1" dirty="0"/>
              <a:t>Monitoring and Alerting</a:t>
            </a:r>
          </a:p>
          <a:p>
            <a:r>
              <a:rPr lang="en-US" sz="1200" dirty="0"/>
              <a:t>AI-driven observability platforms such as </a:t>
            </a:r>
            <a:r>
              <a:rPr lang="en-US" sz="1200" b="1" dirty="0"/>
              <a:t>IBM </a:t>
            </a:r>
            <a:r>
              <a:rPr lang="en-US" sz="1200" b="1" dirty="0" err="1"/>
              <a:t>Instana</a:t>
            </a:r>
            <a:r>
              <a:rPr lang="en-US" sz="1200" b="1" dirty="0"/>
              <a:t> continuously analyze </a:t>
            </a:r>
            <a:r>
              <a:rPr lang="en-US" sz="1200" dirty="0"/>
              <a:t>runtime signals and identify service degradation, risk patterns, and optimization opportunities.</a:t>
            </a:r>
          </a:p>
          <a:p>
            <a:endParaRPr lang="en-US" sz="1200" dirty="0"/>
          </a:p>
          <a:p>
            <a:r>
              <a:rPr lang="en-US" sz="1200" dirty="0" err="1"/>
              <a:t>Instana</a:t>
            </a:r>
            <a:r>
              <a:rPr lang="en-US" sz="1200" dirty="0"/>
              <a:t> can leverage existing Prometheus-based monitoring landscapes, ingesting and contextualizing already available metrics without requiring a disruptive replacement of the current observability stack.</a:t>
            </a:r>
          </a:p>
          <a:p>
            <a:endParaRPr lang="en-US" sz="1200" dirty="0"/>
          </a:p>
          <a:p>
            <a:r>
              <a:rPr lang="en-US" sz="1200" b="1" dirty="0"/>
              <a:t>Root Cause Analysis</a:t>
            </a:r>
          </a:p>
          <a:p>
            <a:r>
              <a:rPr lang="en-US" sz="1200" dirty="0"/>
              <a:t>Based on this contextual insight, </a:t>
            </a:r>
            <a:r>
              <a:rPr lang="en-US" sz="1200" b="1" dirty="0"/>
              <a:t>IBM Concert acts as the decision layer</a:t>
            </a:r>
            <a:r>
              <a:rPr lang="en-US" sz="1200" dirty="0"/>
              <a:t>, evaluating compliant remediation actions and generating structured change intents instead of directly modifying infrastructure.</a:t>
            </a:r>
          </a:p>
          <a:p>
            <a:endParaRPr lang="en-US" sz="1200" dirty="0"/>
          </a:p>
          <a:p>
            <a:r>
              <a:rPr lang="en-US" sz="1200" b="1" dirty="0"/>
              <a:t>Automated Response Orchestration</a:t>
            </a:r>
          </a:p>
          <a:p>
            <a:r>
              <a:rPr lang="en-US" sz="1200" dirty="0"/>
              <a:t>These proposed changes are translated into version-controlled configuration updates in Git, where they pass existing engineering workflows such as policy validation, peer review, and automated testing.</a:t>
            </a:r>
          </a:p>
          <a:p>
            <a:endParaRPr lang="en-US" sz="1200" dirty="0"/>
          </a:p>
          <a:p>
            <a:r>
              <a:rPr lang="en-US" sz="1200" dirty="0"/>
              <a:t>Finally, the </a:t>
            </a:r>
            <a:r>
              <a:rPr lang="en-US" sz="1200" dirty="0" err="1"/>
              <a:t>GitOps</a:t>
            </a:r>
            <a:r>
              <a:rPr lang="en-US" sz="1200" dirty="0"/>
              <a:t> controller (e.g., Argo CD) deterministically reconciles the approved desired state into the runtime environment, ensuring controlled automation, full auditability, and operational sovereignty.</a:t>
            </a:r>
          </a:p>
        </p:txBody>
      </p:sp>
      <p:pic>
        <p:nvPicPr>
          <p:cNvPr id="4" name="Content Placeholder 3"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5B14C368-204E-E576-8042-B81C79986BAF}"/>
              </a:ext>
            </a:extLst>
          </p:cNvPr>
          <p:cNvPicPr>
            <a:picLocks noGrp="1" noChangeAspect="1"/>
          </p:cNvPicPr>
          <p:nvPr>
            <p:ph type="pic" sz="quarter" idx="13"/>
          </p:nvPr>
        </p:nvPicPr>
        <p:blipFill>
          <a:blip r:embed="rId3"/>
          <a:srcRect l="34281" r="21719"/>
          <a:stretch>
            <a:fillRect/>
          </a:stretch>
        </p:blipFill>
        <p:spPr>
          <a:xfrm>
            <a:off x="8168640" y="1"/>
            <a:ext cx="4023360" cy="6858000"/>
          </a:xfrm>
        </p:spPr>
      </p:pic>
    </p:spTree>
    <p:extLst>
      <p:ext uri="{BB962C8B-B14F-4D97-AF65-F5344CB8AC3E}">
        <p14:creationId xmlns:p14="http://schemas.microsoft.com/office/powerpoint/2010/main" val="3416464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23BA-523B-0AB9-5305-CF27D323737B}"/>
              </a:ext>
            </a:extLst>
          </p:cNvPr>
          <p:cNvSpPr>
            <a:spLocks noGrp="1"/>
          </p:cNvSpPr>
          <p:nvPr>
            <p:ph type="title"/>
          </p:nvPr>
        </p:nvSpPr>
        <p:spPr>
          <a:xfrm>
            <a:off x="516249" y="1012175"/>
            <a:ext cx="11113008" cy="849793"/>
          </a:xfrm>
        </p:spPr>
        <p:txBody>
          <a:bodyPr anchor="t">
            <a:normAutofit/>
          </a:bodyPr>
          <a:lstStyle/>
          <a:p>
            <a:r>
              <a:rPr lang="en-US"/>
              <a:t>Detection with Prometheus</a:t>
            </a:r>
          </a:p>
        </p:txBody>
      </p:sp>
      <p:graphicFrame>
        <p:nvGraphicFramePr>
          <p:cNvPr id="4" name="Content Placeholder 3">
            <a:extLst>
              <a:ext uri="{FF2B5EF4-FFF2-40B4-BE49-F238E27FC236}">
                <a16:creationId xmlns:a16="http://schemas.microsoft.com/office/drawing/2014/main" id="{BACA5447-38FB-4B52-95C6-DF8EE9E0B7CB}"/>
              </a:ext>
            </a:extLst>
          </p:cNvPr>
          <p:cNvGraphicFramePr>
            <a:graphicFrameLocks noGrp="1"/>
          </p:cNvGraphicFramePr>
          <p:nvPr>
            <p:ph idx="1"/>
            <p:extLst>
              <p:ext uri="{D42A27DB-BD31-4B8C-83A1-F6EECF244321}">
                <p14:modId xmlns:p14="http://schemas.microsoft.com/office/powerpoint/2010/main" val="347137225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9496" y="2115542"/>
          <a:ext cx="11013670" cy="44515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53140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DF8FA-4A60-B751-7FF9-E6E033FC182F}"/>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3900" b="0" i="0" kern="1200" spc="-200" baseline="0">
                <a:latin typeface="+mj-lt"/>
                <a:ea typeface="+mj-ea"/>
                <a:cs typeface="+mj-cs"/>
              </a:rPr>
              <a:t>Orchestration and RCA via Concert and Instana</a:t>
            </a:r>
          </a:p>
        </p:txBody>
      </p:sp>
      <p:pic>
        <p:nvPicPr>
          <p:cNvPr id="4" name="Content Placeholder 3" descr="Global communication and collaboration intricately involving electronic ropes and keys through social networking of smart phones equipped with AI.">
            <a:extLst>
              <a:ext uri="{FF2B5EF4-FFF2-40B4-BE49-F238E27FC236}">
                <a16:creationId xmlns:a16="http://schemas.microsoft.com/office/drawing/2014/main" id="{0C32644A-AD60-473B-BD14-9818972D18BC}"/>
              </a:ext>
            </a:extLst>
          </p:cNvPr>
          <p:cNvPicPr>
            <a:picLocks noGrp="1" noChangeAspect="1"/>
          </p:cNvPicPr>
          <p:nvPr>
            <p:ph type="pic" sz="quarter" idx="13"/>
          </p:nvPr>
        </p:nvPicPr>
        <p:blipFill>
          <a:blip r:embed="rId3"/>
          <a:srcRect l="34407" r="26433" b="-2"/>
          <a:stretch>
            <a:fillRect/>
          </a:stretch>
        </p:blipFill>
        <p:spPr>
          <a:xfrm>
            <a:off x="20" y="1"/>
            <a:ext cx="4023340" cy="6858000"/>
          </a:xfrm>
        </p:spPr>
      </p:pic>
      <p:sp>
        <p:nvSpPr>
          <p:cNvPr id="5" name="TextBox 4">
            <a:extLst>
              <a:ext uri="{FF2B5EF4-FFF2-40B4-BE49-F238E27FC236}">
                <a16:creationId xmlns:a16="http://schemas.microsoft.com/office/drawing/2014/main" id="{18A66C7D-B7F6-4718-BFAA-10149A5A2A7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Orchestration Engine Role</a:t>
            </a:r>
          </a:p>
          <a:p>
            <a:pPr marL="0" lvl="1" indent="0">
              <a:lnSpc>
                <a:spcPct val="90000"/>
              </a:lnSpc>
              <a:spcBef>
                <a:spcPts val="1000"/>
              </a:spcBef>
              <a:spcAft>
                <a:spcPts val="600"/>
              </a:spcAft>
              <a:buNone/>
            </a:pPr>
            <a:r>
              <a:rPr lang="en-US" sz="1200"/>
              <a:t>Concert acts as the orchestration engine that triggers remediation workflows after receiving alerts from monitoring systems.</a:t>
            </a:r>
          </a:p>
          <a:p>
            <a:pPr marL="0" indent="0">
              <a:lnSpc>
                <a:spcPct val="90000"/>
              </a:lnSpc>
              <a:spcBef>
                <a:spcPts val="2500"/>
              </a:spcBef>
              <a:spcAft>
                <a:spcPts val="600"/>
              </a:spcAft>
              <a:buNone/>
            </a:pPr>
            <a:r>
              <a:rPr lang="en-US" sz="1200" b="1"/>
              <a:t>Remediation Workflows</a:t>
            </a:r>
          </a:p>
          <a:p>
            <a:pPr marL="0" lvl="1" indent="0">
              <a:lnSpc>
                <a:spcPct val="90000"/>
              </a:lnSpc>
              <a:spcBef>
                <a:spcPts val="1000"/>
              </a:spcBef>
              <a:spcAft>
                <a:spcPts val="600"/>
              </a:spcAft>
              <a:buNone/>
            </a:pPr>
            <a:r>
              <a:rPr lang="en-US" sz="1200"/>
              <a:t>Workflows include diagnostics, safety checks, and corrective actions following predefined runbooks to ensure safety and consistency.</a:t>
            </a:r>
          </a:p>
          <a:p>
            <a:pPr marL="0" indent="0">
              <a:lnSpc>
                <a:spcPct val="90000"/>
              </a:lnSpc>
              <a:spcBef>
                <a:spcPts val="2500"/>
              </a:spcBef>
              <a:spcAft>
                <a:spcPts val="600"/>
              </a:spcAft>
              <a:buNone/>
            </a:pPr>
            <a:r>
              <a:rPr lang="en-US" sz="1200" b="1"/>
              <a:t>Root Cause Analysis Insights</a:t>
            </a:r>
          </a:p>
          <a:p>
            <a:pPr marL="0" lvl="1" indent="0">
              <a:lnSpc>
                <a:spcPct val="90000"/>
              </a:lnSpc>
              <a:spcBef>
                <a:spcPts val="1000"/>
              </a:spcBef>
              <a:spcAft>
                <a:spcPts val="600"/>
              </a:spcAft>
              <a:buNone/>
            </a:pPr>
            <a:r>
              <a:rPr lang="en-US" sz="1200"/>
              <a:t>Instana provides intelligent root-cause analysis by correlating traces, telemetry, and topology to pinpoint failure sources.</a:t>
            </a:r>
          </a:p>
          <a:p>
            <a:pPr marL="0" indent="0">
              <a:lnSpc>
                <a:spcPct val="90000"/>
              </a:lnSpc>
              <a:spcBef>
                <a:spcPts val="2500"/>
              </a:spcBef>
              <a:spcAft>
                <a:spcPts val="600"/>
              </a:spcAft>
              <a:buNone/>
            </a:pPr>
            <a:r>
              <a:rPr lang="en-US" sz="1200" b="1"/>
              <a:t>Enhanced Incident Response</a:t>
            </a:r>
          </a:p>
          <a:p>
            <a:pPr marL="0" lvl="1" indent="0">
              <a:lnSpc>
                <a:spcPct val="90000"/>
              </a:lnSpc>
              <a:spcBef>
                <a:spcPts val="1000"/>
              </a:spcBef>
              <a:spcAft>
                <a:spcPts val="600"/>
              </a:spcAft>
              <a:buNone/>
            </a:pPr>
            <a:r>
              <a:rPr lang="en-US" sz="1200"/>
              <a:t>Combined, Concert and Instana accelerate incident response and reduce operational overhead with real-time analytics and automation.</a:t>
            </a:r>
          </a:p>
        </p:txBody>
      </p:sp>
    </p:spTree>
    <p:extLst>
      <p:ext uri="{BB962C8B-B14F-4D97-AF65-F5344CB8AC3E}">
        <p14:creationId xmlns:p14="http://schemas.microsoft.com/office/powerpoint/2010/main" val="5249261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6411-C23E-3DE2-AF2E-50C6A2808E49}"/>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en-US" sz="4300" b="0" i="0" kern="1200" spc="-200" baseline="0">
                <a:latin typeface="+mj-lt"/>
                <a:ea typeface="+mj-ea"/>
                <a:cs typeface="+mj-cs"/>
              </a:rPr>
              <a:t>Change Management Through GitOps</a:t>
            </a:r>
          </a:p>
        </p:txBody>
      </p:sp>
      <p:sp>
        <p:nvSpPr>
          <p:cNvPr id="5" name="TextBox 4">
            <a:extLst>
              <a:ext uri="{FF2B5EF4-FFF2-40B4-BE49-F238E27FC236}">
                <a16:creationId xmlns:a16="http://schemas.microsoft.com/office/drawing/2014/main" id="{09A6F86C-9396-4BB6-95E8-BE01294C075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3402064"/>
            <a:ext cx="3585586" cy="3434638"/>
          </a:xfrm>
          <a:prstGeom prst="rect">
            <a:avLst/>
          </a:prstGeom>
        </p:spPr>
        <p:txBody>
          <a:bodyPr>
            <a:normAutofit/>
          </a:bodyPr>
          <a:lstStyle/>
          <a:p>
            <a:pPr marL="0" indent="0">
              <a:lnSpc>
                <a:spcPct val="90000"/>
              </a:lnSpc>
              <a:spcBef>
                <a:spcPts val="2500"/>
              </a:spcBef>
              <a:spcAft>
                <a:spcPts val="600"/>
              </a:spcAft>
              <a:buNone/>
            </a:pPr>
            <a:r>
              <a:rPr lang="en-US" sz="1100" b="1"/>
              <a:t>Structured Change Management</a:t>
            </a:r>
          </a:p>
          <a:p>
            <a:pPr marL="0" lvl="1" indent="0">
              <a:lnSpc>
                <a:spcPct val="90000"/>
              </a:lnSpc>
              <a:spcBef>
                <a:spcPts val="1000"/>
              </a:spcBef>
              <a:spcAft>
                <a:spcPts val="600"/>
              </a:spcAft>
              <a:buNone/>
            </a:pPr>
            <a:r>
              <a:rPr lang="en-US" sz="1100"/>
              <a:t>GitOps applies structured and auditable change management by using version control for infrastructure and application changes.</a:t>
            </a:r>
          </a:p>
          <a:p>
            <a:pPr marL="0" indent="0">
              <a:lnSpc>
                <a:spcPct val="90000"/>
              </a:lnSpc>
              <a:spcBef>
                <a:spcPts val="2500"/>
              </a:spcBef>
              <a:spcAft>
                <a:spcPts val="600"/>
              </a:spcAft>
              <a:buNone/>
            </a:pPr>
            <a:r>
              <a:rPr lang="en-US" sz="1100" b="1"/>
              <a:t>Automated Validation and Testing</a:t>
            </a:r>
          </a:p>
          <a:p>
            <a:pPr marL="0" lvl="1" indent="0">
              <a:lnSpc>
                <a:spcPct val="90000"/>
              </a:lnSpc>
              <a:spcBef>
                <a:spcPts val="1000"/>
              </a:spcBef>
              <a:spcAft>
                <a:spcPts val="600"/>
              </a:spcAft>
              <a:buNone/>
            </a:pPr>
            <a:r>
              <a:rPr lang="en-US" sz="1100"/>
              <a:t>Changes undergo CI workflows, policy checks, automated testing, and peer review before approval to ensure quality and compliance.</a:t>
            </a:r>
          </a:p>
          <a:p>
            <a:pPr marL="0" indent="0">
              <a:lnSpc>
                <a:spcPct val="90000"/>
              </a:lnSpc>
              <a:spcBef>
                <a:spcPts val="2500"/>
              </a:spcBef>
              <a:spcAft>
                <a:spcPts val="600"/>
              </a:spcAft>
              <a:buNone/>
            </a:pPr>
            <a:r>
              <a:rPr lang="en-US" sz="1100" b="1"/>
              <a:t>Traceability and Rollback</a:t>
            </a:r>
          </a:p>
          <a:p>
            <a:pPr marL="0" lvl="1" indent="0">
              <a:lnSpc>
                <a:spcPct val="90000"/>
              </a:lnSpc>
              <a:spcBef>
                <a:spcPts val="1000"/>
              </a:spcBef>
              <a:spcAft>
                <a:spcPts val="600"/>
              </a:spcAft>
              <a:buNone/>
            </a:pPr>
            <a:r>
              <a:rPr lang="en-US" sz="1100"/>
              <a:t>Centralizing changes in Git provides full historical visibility and enables quick rollback to previous stable states when needed.</a:t>
            </a:r>
          </a:p>
        </p:txBody>
      </p:sp>
      <p:pic>
        <p:nvPicPr>
          <p:cNvPr id="4" name="Content Placeholder 3" descr="Desktop computers connected in a network.See all my">
            <a:extLst>
              <a:ext uri="{FF2B5EF4-FFF2-40B4-BE49-F238E27FC236}">
                <a16:creationId xmlns:a16="http://schemas.microsoft.com/office/drawing/2014/main" id="{5169B5E7-BC63-40AD-971B-78E72E9F355D}"/>
              </a:ext>
            </a:extLst>
          </p:cNvPr>
          <p:cNvPicPr>
            <a:picLocks noGrp="1" noChangeAspect="1"/>
          </p:cNvPicPr>
          <p:nvPr>
            <p:ph type="pic" idx="1"/>
          </p:nvPr>
        </p:nvPicPr>
        <p:blipFill>
          <a:blip r:embed="rId3"/>
          <a:stretch/>
        </p:blipFill>
        <p:spPr>
          <a:xfrm>
            <a:off x="5366157" y="1275440"/>
            <a:ext cx="6707160" cy="5030370"/>
          </a:xfrm>
        </p:spPr>
      </p:pic>
    </p:spTree>
    <p:extLst>
      <p:ext uri="{BB962C8B-B14F-4D97-AF65-F5344CB8AC3E}">
        <p14:creationId xmlns:p14="http://schemas.microsoft.com/office/powerpoint/2010/main" val="2829922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3ED12-D708-4A68-05B3-D1AFE147FB1B}"/>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en-US" sz="4800" b="0" i="0" kern="1200" spc="-200" baseline="0">
                <a:latin typeface="+mj-lt"/>
                <a:ea typeface="+mj-ea"/>
                <a:cs typeface="+mj-cs"/>
              </a:rPr>
              <a:t>Continuous Delivery with Argo CD</a:t>
            </a:r>
          </a:p>
        </p:txBody>
      </p:sp>
      <p:sp>
        <p:nvSpPr>
          <p:cNvPr id="5" name="TextBox 4">
            <a:extLst>
              <a:ext uri="{FF2B5EF4-FFF2-40B4-BE49-F238E27FC236}">
                <a16:creationId xmlns:a16="http://schemas.microsoft.com/office/drawing/2014/main" id="{C0637010-0BB9-484A-A755-06445A914C4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3402064"/>
            <a:ext cx="3585586" cy="3434638"/>
          </a:xfrm>
          <a:prstGeom prst="rect">
            <a:avLst/>
          </a:prstGeom>
        </p:spPr>
        <p:txBody>
          <a:bodyPr>
            <a:normAutofit/>
          </a:bodyPr>
          <a:lstStyle/>
          <a:p>
            <a:pPr marL="0" indent="0">
              <a:lnSpc>
                <a:spcPct val="90000"/>
              </a:lnSpc>
              <a:spcBef>
                <a:spcPts val="2500"/>
              </a:spcBef>
              <a:spcAft>
                <a:spcPts val="600"/>
              </a:spcAft>
              <a:buNone/>
            </a:pPr>
            <a:r>
              <a:rPr lang="en-US" sz="1200" b="1"/>
              <a:t>Git and Runtime Bridge</a:t>
            </a:r>
          </a:p>
          <a:p>
            <a:pPr marL="0" lvl="1" indent="0">
              <a:lnSpc>
                <a:spcPct val="90000"/>
              </a:lnSpc>
              <a:spcBef>
                <a:spcPts val="1000"/>
              </a:spcBef>
              <a:spcAft>
                <a:spcPts val="600"/>
              </a:spcAft>
              <a:buNone/>
            </a:pPr>
            <a:r>
              <a:rPr lang="en-US" sz="1200"/>
              <a:t>Argo CD automates continuous delivery by linking Git repositories with live Kubernetes environments.</a:t>
            </a:r>
          </a:p>
          <a:p>
            <a:pPr marL="0" indent="0">
              <a:lnSpc>
                <a:spcPct val="90000"/>
              </a:lnSpc>
              <a:spcBef>
                <a:spcPts val="2500"/>
              </a:spcBef>
              <a:spcAft>
                <a:spcPts val="600"/>
              </a:spcAft>
              <a:buNone/>
            </a:pPr>
            <a:r>
              <a:rPr lang="en-US" sz="1200" b="1"/>
              <a:t>State Monitoring and Sync</a:t>
            </a:r>
          </a:p>
          <a:p>
            <a:pPr marL="0" lvl="1" indent="0">
              <a:lnSpc>
                <a:spcPct val="90000"/>
              </a:lnSpc>
              <a:spcBef>
                <a:spcPts val="1000"/>
              </a:spcBef>
              <a:spcAft>
                <a:spcPts val="600"/>
              </a:spcAft>
              <a:buNone/>
            </a:pPr>
            <a:r>
              <a:rPr lang="en-US" sz="1200"/>
              <a:t>It monitors desired state changes and syncs the cluster to ensure configuration accuracy.</a:t>
            </a:r>
          </a:p>
          <a:p>
            <a:pPr marL="0" indent="0">
              <a:lnSpc>
                <a:spcPct val="90000"/>
              </a:lnSpc>
              <a:spcBef>
                <a:spcPts val="2500"/>
              </a:spcBef>
              <a:spcAft>
                <a:spcPts val="600"/>
              </a:spcAft>
              <a:buNone/>
            </a:pPr>
            <a:r>
              <a:rPr lang="en-US" sz="1200" b="1"/>
              <a:t>Health Verification and Rollback</a:t>
            </a:r>
          </a:p>
          <a:p>
            <a:pPr marL="0" lvl="1" indent="0">
              <a:lnSpc>
                <a:spcPct val="90000"/>
              </a:lnSpc>
              <a:spcBef>
                <a:spcPts val="1000"/>
              </a:spcBef>
              <a:spcAft>
                <a:spcPts val="600"/>
              </a:spcAft>
              <a:buNone/>
            </a:pPr>
            <a:r>
              <a:rPr lang="en-US" sz="1200"/>
              <a:t>Argo CD checks application health after deployment and can automatically roll back if needed.</a:t>
            </a:r>
          </a:p>
        </p:txBody>
      </p:sp>
      <p:pic>
        <p:nvPicPr>
          <p:cNvPr id="4" name="Content Placeholder 3" descr="3d flow chart.">
            <a:extLst>
              <a:ext uri="{FF2B5EF4-FFF2-40B4-BE49-F238E27FC236}">
                <a16:creationId xmlns:a16="http://schemas.microsoft.com/office/drawing/2014/main" id="{3788797D-5481-47A4-9C92-363BC9A67569}"/>
              </a:ext>
            </a:extLst>
          </p:cNvPr>
          <p:cNvPicPr>
            <a:picLocks noGrp="1" noChangeAspect="1"/>
          </p:cNvPicPr>
          <p:nvPr>
            <p:ph type="pic" idx="1"/>
          </p:nvPr>
        </p:nvPicPr>
        <p:blipFill>
          <a:blip r:embed="rId3"/>
          <a:stretch/>
        </p:blipFill>
        <p:spPr>
          <a:xfrm>
            <a:off x="5366157" y="2113835"/>
            <a:ext cx="6707160" cy="3353580"/>
          </a:xfrm>
        </p:spPr>
      </p:pic>
    </p:spTree>
    <p:extLst>
      <p:ext uri="{BB962C8B-B14F-4D97-AF65-F5344CB8AC3E}">
        <p14:creationId xmlns:p14="http://schemas.microsoft.com/office/powerpoint/2010/main" val="959633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F407-223B-5AF1-BAC2-1552A898695B}"/>
              </a:ext>
            </a:extLst>
          </p:cNvPr>
          <p:cNvSpPr>
            <a:spLocks noGrp="1"/>
          </p:cNvSpPr>
          <p:nvPr>
            <p:ph type="title"/>
          </p:nvPr>
        </p:nvSpPr>
        <p:spPr>
          <a:xfrm>
            <a:off x="542307" y="621792"/>
            <a:ext cx="7252710" cy="1138769"/>
          </a:xfrm>
        </p:spPr>
        <p:txBody>
          <a:bodyPr vert="horz" lIns="91440" tIns="45720" rIns="91440" bIns="45720" rtlCol="0" anchor="t">
            <a:normAutofit/>
          </a:bodyPr>
          <a:lstStyle/>
          <a:p>
            <a:r>
              <a:rPr lang="en-US" sz="3900" b="0" i="0" kern="1200" spc="-200" baseline="0">
                <a:latin typeface="+mj-lt"/>
                <a:ea typeface="+mj-ea"/>
                <a:cs typeface="+mj-cs"/>
              </a:rPr>
              <a:t>Environment Stabilization with Kubernetes</a:t>
            </a:r>
          </a:p>
        </p:txBody>
      </p:sp>
      <p:sp>
        <p:nvSpPr>
          <p:cNvPr id="5" name="TextBox 4">
            <a:extLst>
              <a:ext uri="{FF2B5EF4-FFF2-40B4-BE49-F238E27FC236}">
                <a16:creationId xmlns:a16="http://schemas.microsoft.com/office/drawing/2014/main" id="{59A2EA55-62AC-4C5F-984A-79D6825D547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Autonomous Remediation Loop</a:t>
            </a:r>
          </a:p>
          <a:p>
            <a:pPr marL="0" lvl="1" indent="0">
              <a:lnSpc>
                <a:spcPct val="90000"/>
              </a:lnSpc>
              <a:spcBef>
                <a:spcPts val="1000"/>
              </a:spcBef>
              <a:spcAft>
                <a:spcPts val="600"/>
              </a:spcAft>
              <a:buNone/>
            </a:pPr>
            <a:r>
              <a:rPr lang="en-US" sz="1200"/>
              <a:t>Kubernetes continuously enforces the declared state to maintain operational stability and close the remediation loop.</a:t>
            </a:r>
          </a:p>
          <a:p>
            <a:pPr marL="0" indent="0">
              <a:lnSpc>
                <a:spcPct val="90000"/>
              </a:lnSpc>
              <a:spcBef>
                <a:spcPts val="2500"/>
              </a:spcBef>
              <a:spcAft>
                <a:spcPts val="600"/>
              </a:spcAft>
              <a:buNone/>
            </a:pPr>
            <a:r>
              <a:rPr lang="en-US" sz="1200" b="1"/>
              <a:t>Self-Healing Mechanism</a:t>
            </a:r>
          </a:p>
          <a:p>
            <a:pPr marL="0" lvl="1" indent="0">
              <a:lnSpc>
                <a:spcPct val="90000"/>
              </a:lnSpc>
              <a:spcBef>
                <a:spcPts val="1000"/>
              </a:spcBef>
              <a:spcAft>
                <a:spcPts val="600"/>
              </a:spcAft>
              <a:buNone/>
            </a:pPr>
            <a:r>
              <a:rPr lang="en-US" sz="1200"/>
              <a:t>It restarts failed containers and reschedules workloads on healthy nodes to ensure service reliability.</a:t>
            </a:r>
          </a:p>
          <a:p>
            <a:pPr marL="0" indent="0">
              <a:lnSpc>
                <a:spcPct val="90000"/>
              </a:lnSpc>
              <a:spcBef>
                <a:spcPts val="2500"/>
              </a:spcBef>
              <a:spcAft>
                <a:spcPts val="600"/>
              </a:spcAft>
              <a:buNone/>
            </a:pPr>
            <a:r>
              <a:rPr lang="en-US" sz="1200" b="1"/>
              <a:t>Dynamic Resource Scaling</a:t>
            </a:r>
          </a:p>
          <a:p>
            <a:pPr marL="0" lvl="1" indent="0">
              <a:lnSpc>
                <a:spcPct val="90000"/>
              </a:lnSpc>
              <a:spcBef>
                <a:spcPts val="1000"/>
              </a:spcBef>
              <a:spcAft>
                <a:spcPts val="600"/>
              </a:spcAft>
              <a:buNone/>
            </a:pPr>
            <a:r>
              <a:rPr lang="en-US" sz="1200"/>
              <a:t>Kubernetes adjusts resources via horizontal and cluster autoscaling to minimize downtime and optimize performance.</a:t>
            </a:r>
          </a:p>
          <a:p>
            <a:pPr marL="0" indent="0">
              <a:lnSpc>
                <a:spcPct val="90000"/>
              </a:lnSpc>
              <a:spcBef>
                <a:spcPts val="2500"/>
              </a:spcBef>
              <a:spcAft>
                <a:spcPts val="600"/>
              </a:spcAft>
              <a:buNone/>
            </a:pPr>
            <a:r>
              <a:rPr lang="en-US" sz="1200" b="1"/>
              <a:t>Continuous Reconciliation</a:t>
            </a:r>
          </a:p>
          <a:p>
            <a:pPr marL="0" lvl="1" indent="0">
              <a:lnSpc>
                <a:spcPct val="90000"/>
              </a:lnSpc>
              <a:spcBef>
                <a:spcPts val="1000"/>
              </a:spcBef>
              <a:spcAft>
                <a:spcPts val="600"/>
              </a:spcAft>
              <a:buNone/>
            </a:pPr>
            <a:r>
              <a:rPr lang="en-US" sz="1200"/>
              <a:t>Controllers reconcile actual resource states against desired configurations defined in Git repositories.</a:t>
            </a:r>
          </a:p>
        </p:txBody>
      </p:sp>
      <p:pic>
        <p:nvPicPr>
          <p:cNvPr id="4" name="Content Placeholder 3" descr="Internet communications digital concept people icon on binary data code background">
            <a:extLst>
              <a:ext uri="{FF2B5EF4-FFF2-40B4-BE49-F238E27FC236}">
                <a16:creationId xmlns:a16="http://schemas.microsoft.com/office/drawing/2014/main" id="{99BF8702-B0DC-4A51-B4CB-39D2CB85A22A}"/>
              </a:ext>
            </a:extLst>
          </p:cNvPr>
          <p:cNvPicPr>
            <a:picLocks noGrp="1" noChangeAspect="1"/>
          </p:cNvPicPr>
          <p:nvPr>
            <p:ph type="pic" sz="quarter" idx="13"/>
          </p:nvPr>
        </p:nvPicPr>
        <p:blipFill>
          <a:blip r:embed="rId3"/>
          <a:srcRect l="32935" r="23065"/>
          <a:stretch>
            <a:fillRect/>
          </a:stretch>
        </p:blipFill>
        <p:spPr>
          <a:xfrm>
            <a:off x="8168640" y="1"/>
            <a:ext cx="4023360" cy="6858000"/>
          </a:xfrm>
        </p:spPr>
      </p:pic>
    </p:spTree>
    <p:extLst>
      <p:ext uri="{BB962C8B-B14F-4D97-AF65-F5344CB8AC3E}">
        <p14:creationId xmlns:p14="http://schemas.microsoft.com/office/powerpoint/2010/main" val="40015418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9EA2-C97C-BD43-A5AD-2FAF5FBC4AD2}"/>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5200" b="0" i="0" kern="1200" spc="-200" baseline="0">
                <a:latin typeface="+mj-lt"/>
                <a:ea typeface="+mj-ea"/>
                <a:cs typeface="+mj-cs"/>
              </a:rPr>
              <a:t>Visual Architecture Flow</a:t>
            </a:r>
          </a:p>
        </p:txBody>
      </p:sp>
      <p:pic>
        <p:nvPicPr>
          <p:cNvPr id="4" name="Content Placeholder 3" descr="Shiny pyramid greenhouse sustainable growth and finance concept">
            <a:extLst>
              <a:ext uri="{FF2B5EF4-FFF2-40B4-BE49-F238E27FC236}">
                <a16:creationId xmlns:a16="http://schemas.microsoft.com/office/drawing/2014/main" id="{B0C6FE8B-743A-48B4-AAAD-91FDF7F1C71D}"/>
              </a:ext>
            </a:extLst>
          </p:cNvPr>
          <p:cNvPicPr>
            <a:picLocks noGrp="1" noChangeAspect="1"/>
          </p:cNvPicPr>
          <p:nvPr>
            <p:ph type="pic" sz="quarter" idx="13"/>
          </p:nvPr>
        </p:nvPicPr>
        <p:blipFill>
          <a:blip r:embed="rId3"/>
          <a:srcRect l="44865" r="15975" b="-2"/>
          <a:stretch>
            <a:fillRect/>
          </a:stretch>
        </p:blipFill>
        <p:spPr>
          <a:xfrm>
            <a:off x="20" y="1"/>
            <a:ext cx="4023340" cy="6858000"/>
          </a:xfrm>
        </p:spPr>
      </p:pic>
      <p:sp>
        <p:nvSpPr>
          <p:cNvPr id="5" name="TextBox 4">
            <a:extLst>
              <a:ext uri="{FF2B5EF4-FFF2-40B4-BE49-F238E27FC236}">
                <a16:creationId xmlns:a16="http://schemas.microsoft.com/office/drawing/2014/main" id="{3C1AF654-603B-47D8-9F43-36026BFC2F2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Detection and Alert Generation</a:t>
            </a:r>
          </a:p>
          <a:p>
            <a:pPr marL="0" lvl="1" indent="0">
              <a:lnSpc>
                <a:spcPct val="90000"/>
              </a:lnSpc>
              <a:spcBef>
                <a:spcPts val="1000"/>
              </a:spcBef>
              <a:spcAft>
                <a:spcPts val="600"/>
              </a:spcAft>
              <a:buNone/>
            </a:pPr>
            <a:r>
              <a:rPr lang="en-US" sz="1200"/>
              <a:t>Prometheus initiates the process by detecting issues and generating alerts to trigger remediation workflows.</a:t>
            </a:r>
          </a:p>
          <a:p>
            <a:pPr marL="0" indent="0">
              <a:lnSpc>
                <a:spcPct val="90000"/>
              </a:lnSpc>
              <a:spcBef>
                <a:spcPts val="2500"/>
              </a:spcBef>
              <a:spcAft>
                <a:spcPts val="600"/>
              </a:spcAft>
              <a:buNone/>
            </a:pPr>
            <a:r>
              <a:rPr lang="en-US" sz="1200" b="1"/>
              <a:t>Workflow Orchestration</a:t>
            </a:r>
          </a:p>
          <a:p>
            <a:pPr marL="0" lvl="1" indent="0">
              <a:lnSpc>
                <a:spcPct val="90000"/>
              </a:lnSpc>
              <a:spcBef>
                <a:spcPts val="1000"/>
              </a:spcBef>
              <a:spcAft>
                <a:spcPts val="600"/>
              </a:spcAft>
              <a:buNone/>
            </a:pPr>
            <a:r>
              <a:rPr lang="en-US" sz="1200"/>
              <a:t>Concert orchestrates the remediation workflows, coordinating tasks to handle alerts efficiently and effectively.</a:t>
            </a:r>
          </a:p>
          <a:p>
            <a:pPr marL="0" indent="0">
              <a:lnSpc>
                <a:spcPct val="90000"/>
              </a:lnSpc>
              <a:spcBef>
                <a:spcPts val="2500"/>
              </a:spcBef>
              <a:spcAft>
                <a:spcPts val="600"/>
              </a:spcAft>
              <a:buNone/>
            </a:pPr>
            <a:r>
              <a:rPr lang="en-US" sz="1200" b="1"/>
              <a:t>Root Cause Intelligence</a:t>
            </a:r>
          </a:p>
          <a:p>
            <a:pPr marL="0" lvl="1" indent="0">
              <a:lnSpc>
                <a:spcPct val="90000"/>
              </a:lnSpc>
              <a:spcBef>
                <a:spcPts val="1000"/>
              </a:spcBef>
              <a:spcAft>
                <a:spcPts val="600"/>
              </a:spcAft>
              <a:buNone/>
            </a:pPr>
            <a:r>
              <a:rPr lang="en-US" sz="1200"/>
              <a:t>Instana provides insights and root-cause analysis to improve decision-making in the remediation process.</a:t>
            </a:r>
          </a:p>
          <a:p>
            <a:pPr marL="0" indent="0">
              <a:lnSpc>
                <a:spcPct val="90000"/>
              </a:lnSpc>
              <a:spcBef>
                <a:spcPts val="2500"/>
              </a:spcBef>
              <a:spcAft>
                <a:spcPts val="600"/>
              </a:spcAft>
              <a:buNone/>
            </a:pPr>
            <a:r>
              <a:rPr lang="en-US" sz="1200" b="1"/>
              <a:t>Automated Deployment and Stabilization</a:t>
            </a:r>
          </a:p>
          <a:p>
            <a:pPr marL="0" lvl="1" indent="0">
              <a:lnSpc>
                <a:spcPct val="90000"/>
              </a:lnSpc>
              <a:spcBef>
                <a:spcPts val="1000"/>
              </a:spcBef>
              <a:spcAft>
                <a:spcPts val="600"/>
              </a:spcAft>
              <a:buNone/>
            </a:pPr>
            <a:r>
              <a:rPr lang="en-US" sz="1200"/>
              <a:t>GitOps and Argo CD automate patching, validation, deployment, and Kubernetes ensures system stability and self-healing.</a:t>
            </a:r>
          </a:p>
        </p:txBody>
      </p:sp>
    </p:spTree>
    <p:extLst>
      <p:ext uri="{BB962C8B-B14F-4D97-AF65-F5344CB8AC3E}">
        <p14:creationId xmlns:p14="http://schemas.microsoft.com/office/powerpoint/2010/main" val="2857552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_Copilot Layouts_win32_DN_v7" id="{2D27664C-6308-44CF-AD31-3123E3CD2A37}" vid="{94C83FE8-F59A-47F5-B97E-45C21FC7BF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EF782DA7-86C0-4A84-A860-11A1E6E3FB6B}">
  <ds:schemaRefs>
    <ds:schemaRef ds:uri="http://purl.org/dc/dcmitype/"/>
    <ds:schemaRef ds:uri="http://purl.org/dc/terms/"/>
    <ds:schemaRef ds:uri="http://purl.org/dc/elements/1.1/"/>
    <ds:schemaRef ds:uri="16c05727-aa75-4e4a-9b5f-8a80a11658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71af3243-3dd4-4a8d-8c0d-dd76da1f02a5"/>
    <ds:schemaRef ds:uri="230e9df3-be65-4c73-a93b-d1236ebd677e"/>
    <ds:schemaRef ds:uri="http://schemas.microsoft.com/sharepoint/v3"/>
    <ds:schemaRef ds:uri="http://schemas.microsoft.com/office/2006/metadata/properties"/>
  </ds:schemaRefs>
</ds:datastoreItem>
</file>

<file path=docMetadata/LabelInfo.xml><?xml version="1.0" encoding="utf-8"?>
<clbl:labelList xmlns:clbl="http://schemas.microsoft.com/office/2020/mipLabelMetadata">
  <clbl:label id="{bde4dffc-4b60-4cf6-8b04-a5eeb25f5c4f}" enabled="0" method="" siteId="{bde4dffc-4b60-4cf6-8b04-a5eeb25f5c4f}" removed="1"/>
</clbl:labelList>
</file>

<file path=docProps/app.xml><?xml version="1.0" encoding="utf-8"?>
<Properties xmlns="http://schemas.openxmlformats.org/officeDocument/2006/extended-properties" xmlns:vt="http://schemas.openxmlformats.org/officeDocument/2006/docPropsVTypes">
  <Template/>
  <TotalTime>0</TotalTime>
  <Words>2315</Words>
  <Application>Microsoft Office PowerPoint</Application>
  <PresentationFormat>Breitbild</PresentationFormat>
  <Paragraphs>106</Paragraphs>
  <Slides>11</Slides>
  <Notes>11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11</vt:i4>
      </vt:variant>
    </vt:vector>
  </HeadingPairs>
  <TitlesOfParts>
    <vt:vector size="15" baseType="lpstr">
      <vt:lpstr>Aptos</vt:lpstr>
      <vt:lpstr>Arial</vt:lpstr>
      <vt:lpstr>Neue Haas Grotesk Text Pro</vt:lpstr>
      <vt:lpstr>Axis</vt:lpstr>
      <vt:lpstr>Autonomous Remediation Pipeline</vt:lpstr>
      <vt:lpstr>Autonomous Remediation Pipeline</vt:lpstr>
      <vt:lpstr>Problem Statement</vt:lpstr>
      <vt:lpstr>High-Level Operating Model</vt:lpstr>
      <vt:lpstr>End-to-End Flow Overview</vt:lpstr>
      <vt:lpstr>Detection with Prometheus</vt:lpstr>
      <vt:lpstr>Orchestration and RCA via Concert and Instana</vt:lpstr>
      <vt:lpstr>Change Management Through GitOps</vt:lpstr>
      <vt:lpstr>Continuous Delivery with Argo CD</vt:lpstr>
      <vt:lpstr>Environment Stabilization with Kubernetes</vt:lpstr>
      <vt:lpstr>Visual Architecture 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CHOURASIA, PRASHANT</dc:creator>
  <cp:lastModifiedBy>Wendt, Andres Martin</cp:lastModifiedBy>
  <cp:revision>4</cp:revision>
  <dcterms:created xsi:type="dcterms:W3CDTF">2024-06-26T20:20:27Z</dcterms:created>
  <dcterms:modified xsi:type="dcterms:W3CDTF">2026-03-24T14:57:45Z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